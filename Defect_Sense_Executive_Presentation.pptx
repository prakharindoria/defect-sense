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72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Over the next fifteen minutes I want to introduce Defect Sense —</a:t>
            </a:r>
          </a:p>
          <a:p>
            <a:r>
              <a:t>an AI-powered quality control system for manufacturing defect detection, built</a:t>
            </a:r>
          </a:p>
          <a:p>
            <a:r>
              <a:t>on the wheel-assembly station as its first use case.</a:t>
            </a:r>
          </a:p>
          <a:p>
            <a:endParaRPr/>
          </a:p>
          <a:p>
            <a:r>
              <a:t>Frame the problem in one sentence: manufacturing plants lose money not when a</a:t>
            </a:r>
          </a:p>
          <a:p>
            <a:r>
              <a:t>defect happens, but when a defect escapes. Manual inspection is slow,</a:t>
            </a:r>
          </a:p>
          <a:p>
            <a:r>
              <a:t>inconsistent and expensive, and conventional vision systems only see the defect</a:t>
            </a:r>
          </a:p>
          <a:p>
            <a:r>
              <a:t>types they were trained on.</a:t>
            </a:r>
          </a:p>
          <a:p>
            <a:endParaRPr/>
          </a:p>
          <a:p>
            <a:r>
              <a:t>Defect Sense is deliberately different from a vision system. It fuses</a:t>
            </a:r>
          </a:p>
          <a:p>
            <a:r>
              <a:t>inspection images, fastening-tool telemetry and MES production context into one</a:t>
            </a:r>
          </a:p>
          <a:p>
            <a:r>
              <a:t>evidence-backed decision, then explains the production condition that caused</a:t>
            </a:r>
          </a:p>
          <a:p>
            <a:r>
              <a:t>the defect and recommends the action with the lowest expected cost.</a:t>
            </a:r>
          </a:p>
          <a:p>
            <a:endParaRPr/>
          </a:p>
          <a:p>
            <a:r>
              <a:t>Set expectations up front on data honesty: every figure in this deck comes from</a:t>
            </a:r>
          </a:p>
          <a:p>
            <a:r>
              <a:t>a synthetic, labelled dataset with ground truth recorded at generation time. We</a:t>
            </a:r>
          </a:p>
          <a:p>
            <a:r>
              <a:t>will flag it wherever it appears. Date: 08 August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quick word on the team, because the shape of the team explains the shape of</a:t>
            </a:r>
          </a:p>
          <a:p>
            <a:r>
              <a:t>the solution.</a:t>
            </a:r>
          </a:p>
          <a:p>
            <a:endParaRPr/>
          </a:p>
          <a:p>
            <a:r>
              <a:t>Five engineers, 41 years of combined experience. Pushpendra and Abhijeet bring</a:t>
            </a:r>
          </a:p>
          <a:p>
            <a:r>
              <a:t>seventeen and thirteen years respectively — they own the architecture and the</a:t>
            </a:r>
          </a:p>
          <a:p>
            <a:r>
              <a:t>governance model, which is why this is a layered, port-and-adapter system with</a:t>
            </a:r>
          </a:p>
          <a:p>
            <a:r>
              <a:t>role-based access control rather than a demo script. Prakhar owns computer</a:t>
            </a:r>
          </a:p>
          <a:p>
            <a:r>
              <a:t>vision and the torque-signal analytics. Yashwant owns data engineering and the</a:t>
            </a:r>
          </a:p>
          <a:p>
            <a:r>
              <a:t>MES integration. Ashish owns the dashboards, reporting and QA automation.</a:t>
            </a:r>
          </a:p>
          <a:p>
            <a:endParaRPr/>
          </a:p>
          <a:p>
            <a:r>
              <a:t>Every workstream has a named owner and every external system sits behind an</a:t>
            </a:r>
          </a:p>
          <a:p>
            <a:r>
              <a:t>interface with both a real and a fake implementation — that is what let us</a:t>
            </a:r>
          </a:p>
          <a:p>
            <a:r>
              <a:t>build fast without the demo becoming fragile.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numbers frame the business case.</a:t>
            </a:r>
          </a:p>
          <a:p>
            <a:endParaRPr/>
          </a:p>
          <a:p>
            <a:r>
              <a:t>94.2% detection accuracy — measured on a held-out golden set the system has</a:t>
            </a:r>
          </a:p>
          <a:p>
            <a:r>
              <a:t>never seen, not on training data. Two percent or below false positives on 120</a:t>
            </a:r>
          </a:p>
          <a:p>
            <a:r>
              <a:t>clean production runs; that matters because a noisy inspector gets switched off</a:t>
            </a:r>
          </a:p>
          <a:p>
            <a:r>
              <a:t>by the line, and then you have no inspector at all.</a:t>
            </a:r>
          </a:p>
          <a:p>
            <a:endParaRPr/>
          </a:p>
          <a:p>
            <a:r>
              <a:t>67% reduction in escaped defects per thousand units in pilot simulation, and</a:t>
            </a:r>
          </a:p>
          <a:p>
            <a:r>
              <a:t>this is synthetic pilot data — we are labelling it as such deliberately.</a:t>
            </a:r>
          </a:p>
          <a:p>
            <a:endParaRPr/>
          </a:p>
          <a:p>
            <a:r>
              <a:t>The fourth number is the architectural one: fifty milliseconds to a safety</a:t>
            </a:r>
          </a:p>
          <a:p>
            <a:r>
              <a:t>verdict. The verdict is fully deterministic — torque signature, geometric</a:t>
            </a:r>
          </a:p>
          <a:p>
            <a:r>
              <a:t>verifiers and the cost engine are pure computation. The language model only</a:t>
            </a:r>
          </a:p>
          <a:p>
            <a:r>
              <a:t>writes the explanation, and it streams in about five seconds later. That means</a:t>
            </a:r>
          </a:p>
          <a:p>
            <a:r>
              <a:t>the safety decision does not wait on a model and does not depend on one.</a:t>
            </a:r>
          </a:p>
          <a:p>
            <a:endParaRPr/>
          </a:p>
          <a:p>
            <a:r>
              <a:t>The chart on the right is the outcome shape we are targeting: a flat, noisy</a:t>
            </a:r>
          </a:p>
          <a:p>
            <a:r>
              <a:t>baseline under manual inspection, then a sustained decline after go-live, with</a:t>
            </a:r>
          </a:p>
          <a:p>
            <a:r>
              <a:t>an honest forecast confidence band rather than a single optimistic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challenges, and I want to draw your attention to the fourth one because it</a:t>
            </a:r>
          </a:p>
          <a:p>
            <a:r>
              <a:t>is the reason this project is not just another vision system.</a:t>
            </a:r>
          </a:p>
          <a:p>
            <a:endParaRPr/>
          </a:p>
          <a:p>
            <a:r>
              <a:t>Wheel torque specifications assume clean, dry threads. Torque is only a proxy</a:t>
            </a:r>
          </a:p>
          <a:p>
            <a:r>
              <a:t>for clamp load, and the relationship runs through thread friction. Contaminate</a:t>
            </a:r>
          </a:p>
          <a:p>
            <a:r>
              <a:t>the threads and that friction factor changes — the fastening tool reads a</a:t>
            </a:r>
          </a:p>
          <a:p>
            <a:r>
              <a:t>perfectly in-spec 118 newton-metres inside a 110-to-125 band, while delivered</a:t>
            </a:r>
          </a:p>
          <a:p>
            <a:r>
              <a:t>clamp load is about thirty percent under target. Vision, independently, also</a:t>
            </a:r>
          </a:p>
          <a:p>
            <a:r>
              <a:t>says PASS: the bolts are genuinely present, seated and correctly counted.</a:t>
            </a:r>
          </a:p>
          <a:p>
            <a:endParaRPr/>
          </a:p>
          <a:p>
            <a:r>
              <a:t>Neither signal is wrong. The defect exists only in the disagreement between</a:t>
            </a:r>
          </a:p>
          <a:p>
            <a:r>
              <a:t>them. That is precisely what a multi-agent system is for, and it is why single-</a:t>
            </a:r>
          </a:p>
          <a:p>
            <a:r>
              <a:t>signal automation keeps missing this class of defect.</a:t>
            </a:r>
          </a:p>
          <a:p>
            <a:endParaRPr/>
          </a:p>
          <a:p>
            <a:r>
              <a:t>This is not hypothetical. It is live in the US NHTSA recall database as campaign</a:t>
            </a:r>
          </a:p>
          <a:p>
            <a:r>
              <a:t>24V237000: front wheel hub bolts over-tightened and damaged during</a:t>
            </a:r>
          </a:p>
          <a:p>
            <a:r>
              <a:t>installation.</a:t>
            </a:r>
          </a:p>
          <a:p>
            <a:endParaRPr/>
          </a:p>
          <a:p>
            <a:r>
              <a:t>The chart makes the economics blunt: an in-station catch is the baseline; a</a:t>
            </a:r>
          </a:p>
          <a:p>
            <a:r>
              <a:t>field escape or recall costs roughly 310 times as much. Every hour of detection</a:t>
            </a:r>
          </a:p>
          <a:p>
            <a:r>
              <a:t>delay is compounding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what is Defect Sense, precisely?</a:t>
            </a:r>
          </a:p>
          <a:p>
            <a:endParaRPr/>
          </a:p>
          <a:p>
            <a:r>
              <a:t>It is an enterprise multi-agent quality platform. The distinction I want to</a:t>
            </a:r>
          </a:p>
          <a:p>
            <a:r>
              <a:t>land is that most systems in this space stop at detection. Defect Sense runs a</a:t>
            </a:r>
          </a:p>
          <a:p>
            <a:r>
              <a:t>five-station spine: DETECT, EXPLAIN, DECIDE, ACT, LEARN. Every module in the</a:t>
            </a:r>
          </a:p>
          <a:p>
            <a:r>
              <a:t>product sits on exactly one of those five stations — that constraint is</a:t>
            </a:r>
          </a:p>
          <a:p>
            <a:r>
              <a:t>enforced in the codebase, not just on this slide.</a:t>
            </a:r>
          </a:p>
          <a:p>
            <a:endParaRPr/>
          </a:p>
          <a:p>
            <a:r>
              <a:t>Detect fuses the signals. Explain produces a narrative grounded in cited</a:t>
            </a:r>
          </a:p>
          <a:p>
            <a:r>
              <a:t>evidence, with provenance on every AI-derived value — source, confidence,</a:t>
            </a:r>
          </a:p>
          <a:p>
            <a:r>
              <a:t>latency, model. Decide prices each disposition by expected cost rather than</a:t>
            </a:r>
          </a:p>
          <a:p>
            <a:r>
              <a:t>looking up a severity label. Act writes back to MES and notifies Slack. Learn</a:t>
            </a:r>
          </a:p>
          <a:p>
            <a:r>
              <a:t>takes operator confirmations and corrections and re-tunes thresholds and the</a:t>
            </a:r>
          </a:p>
          <a:p>
            <a:r>
              <a:t>memory bank.</a:t>
            </a:r>
          </a:p>
          <a:p>
            <a:endParaRPr/>
          </a:p>
          <a:p>
            <a:r>
              <a:t>On users: five roles, and role is not cosmetic. It drives permissions, the</a:t>
            </a:r>
          </a:p>
          <a:p>
            <a:r>
              <a:t>default dashboard, the notification channel and even the depth of AI</a:t>
            </a:r>
          </a:p>
          <a:p>
            <a:r>
              <a:t>explanation an individual sees. An operator gets a verdict and an action; a</a:t>
            </a:r>
          </a:p>
          <a:p>
            <a:r>
              <a:t>quality engineer gets the evidence chain; leadership gets trend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architecture in five layers, bottom-line first: dependencies point inward,</a:t>
            </a:r>
          </a:p>
          <a:p>
            <a:r>
              <a:t>always, and that is verified by an automated import-graph check rather than by</a:t>
            </a:r>
          </a:p>
          <a:p>
            <a:r>
              <a:t>convention. Five executable rules, all currently green.</a:t>
            </a:r>
          </a:p>
          <a:p>
            <a:endParaRPr/>
          </a:p>
          <a:p>
            <a:r>
              <a:t>Data sources: MES work orders and job cards, fastening-tool telemetry,</a:t>
            </a:r>
          </a:p>
          <a:p>
            <a:r>
              <a:t>inspection images from the station camera, and defect tickets synchronised with</a:t>
            </a:r>
          </a:p>
          <a:p>
            <a:r>
              <a:t>Azure DevOps and Jira so quality incidents live in the systems teams already</a:t>
            </a:r>
          </a:p>
          <a:p>
            <a:r>
              <a:t>use. We also pull two live public feeds that earn their place — ambient</a:t>
            </a:r>
          </a:p>
          <a:p>
            <a:r>
              <a:t>temperature and humidity, because humidity physically drives thread surface</a:t>
            </a:r>
          </a:p>
          <a:p>
            <a:r>
              <a:t>condition, and the NHTSA recall database, because that is the exact failure mode</a:t>
            </a:r>
          </a:p>
          <a:p>
            <a:r>
              <a:t>we detect.</a:t>
            </a:r>
          </a:p>
          <a:p>
            <a:endParaRPr/>
          </a:p>
          <a:p>
            <a:r>
              <a:t>Processing: schema and range validation with a data-quality gate that rejects</a:t>
            </a:r>
          </a:p>
          <a:p>
            <a:r>
              <a:t>about three percent of records, and we show the rejection log. "We tested on</a:t>
            </a:r>
          </a:p>
          <a:p>
            <a:r>
              <a:t>clean data" is a weak answer; a rejection log is a strong one. PII is tokenised</a:t>
            </a:r>
          </a:p>
          <a:p>
            <a:r>
              <a:t>before any text reaches a language model.</a:t>
            </a:r>
          </a:p>
          <a:p>
            <a:endParaRPr/>
          </a:p>
          <a:p>
            <a:r>
              <a:t>Analytics: deterministic torque-signature and geometric verifiers, an</a:t>
            </a:r>
          </a:p>
          <a:p>
            <a:r>
              <a:t>adjudicator that re-queries when signals disagree, expected-cost triage, and</a:t>
            </a:r>
          </a:p>
          <a:p>
            <a:r>
              <a:t>hybrid retrieval for root cause.</a:t>
            </a:r>
          </a:p>
          <a:p>
            <a:endParaRPr/>
          </a:p>
          <a:p>
            <a:r>
              <a:t>Access: five roles asserted by test. Tool authorisation is enforced at the tool</a:t>
            </a:r>
          </a:p>
          <a:p>
            <a:r>
              <a:t>dispatcher, not in the prompt — prompts are not a security boundary. An</a:t>
            </a:r>
          </a:p>
          <a:p>
            <a:r>
              <a:t>operator's session physically cannot create an MES quality incident.</a:t>
            </a:r>
          </a:p>
          <a:p>
            <a:endParaRPr/>
          </a:p>
          <a:p>
            <a:r>
              <a:t>And the line I would ask leadership to hold us to: Defect Sense can reject a</a:t>
            </a:r>
          </a:p>
          <a:p>
            <a:r>
              <a:t>part autonomously. It cannot pass one, and it cannot halt a line, without a</a:t>
            </a:r>
          </a:p>
          <a:p>
            <a:r>
              <a:t>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agent topology — fourteen nodes — and I want to walk the path a</a:t>
            </a:r>
          </a:p>
          <a:p>
            <a:r>
              <a:t>single unit takes through it.</a:t>
            </a:r>
          </a:p>
          <a:p>
            <a:endParaRPr/>
          </a:p>
          <a:p>
            <a:r>
              <a:t>On the left is intake. An upload carries three things together: the inspection</a:t>
            </a:r>
          </a:p>
          <a:p>
            <a:r>
              <a:t>image, the sensor scalars from the fastening tool, and the MES record. Ingestion</a:t>
            </a:r>
          </a:p>
          <a:p>
            <a:r>
              <a:t>validates and normalises them, runs the data-quality gate, stamps lineage, and</a:t>
            </a:r>
          </a:p>
          <a:p>
            <a:r>
              <a:t>tags every record as synthetic or real — that tag travels all the way to the UI.</a:t>
            </a:r>
          </a:p>
          <a:p>
            <a:endParaRPr/>
          </a:p>
          <a:p>
            <a:r>
              <a:t>Then the Component Identifier asks the question most systems skip: what part is</a:t>
            </a:r>
          </a:p>
          <a:p>
            <a:r>
              <a:t>this? And it returns a confidence with the answer. If we already have a use-case</a:t>
            </a:r>
          </a:p>
          <a:p>
            <a:r>
              <a:t>pack for that component, we load it. If we do not, Detector Synthesis generates</a:t>
            </a:r>
          </a:p>
          <a:p>
            <a:r>
              <a:t>one — and note the sequence: generate, verify, sandbox, hold out, and then a</a:t>
            </a:r>
          </a:p>
          <a:p>
            <a:r>
              <a:t>human approves. A generated detector never reaches production on the model's own</a:t>
            </a:r>
          </a:p>
          <a:p>
            <a:r>
              <a:t>authority.</a:t>
            </a:r>
          </a:p>
          <a:p>
            <a:endParaRPr/>
          </a:p>
          <a:p>
            <a:r>
              <a:t>Either branch feeds the Orchestrator on the right: a LangGraph state machine</a:t>
            </a:r>
          </a:p>
          <a:p>
            <a:r>
              <a:t>over one shared QCState. Two design points matter. First, handoff is state, not</a:t>
            </a:r>
          </a:p>
          <a:p>
            <a:r>
              <a:t>messages — every agent reads and writes the same state object, and no agent</a:t>
            </a:r>
          </a:p>
          <a:p>
            <a:r>
              <a:t>mutates another's slot. Second, the Orchestrator routes and enforces token and</a:t>
            </a:r>
          </a:p>
          <a:p>
            <a:r>
              <a:t>latency budgets; it does not analyse. Supervisor plus specialists.</a:t>
            </a:r>
          </a:p>
          <a:p>
            <a:endParaRPr/>
          </a:p>
          <a:p>
            <a:r>
              <a:t>Vision, Process and Context run in parallel and converge into the chain.</a:t>
            </a:r>
          </a:p>
          <a:p>
            <a:endParaRPr/>
          </a:p>
          <a:p>
            <a:r>
              <a:t>The Adjudicator produces the verdict — deterministic, about fifty milliseconds —</a:t>
            </a:r>
          </a:p>
          <a:p>
            <a:r>
              <a:t>and the language-model narrative streams in afterwards. Its reflection trigger</a:t>
            </a:r>
          </a:p>
          <a:p>
            <a:r>
              <a:t>is a number, not a judgement call: when the signals disagree, it re-queries, and</a:t>
            </a:r>
          </a:p>
          <a:p>
            <a:r>
              <a:t>the retry counter increments visibly in the trace. Root Cause carries the second</a:t>
            </a:r>
          </a:p>
          <a:p>
            <a:r>
              <a:t>reflection trigger: when groundedness falls below zero point seven, it</a:t>
            </a:r>
          </a:p>
          <a:p>
            <a:r>
              <a:t>re-retrieves with relaxed filters rather than answering weakly. Cost Triage</a:t>
            </a:r>
          </a:p>
          <a:p>
            <a:r>
              <a:t>prices every disposition and escalates when the top two options sit within ten</a:t>
            </a:r>
          </a:p>
          <a:p>
            <a:r>
              <a:t>percent of each other — if the decision is that close, a human should make it.</a:t>
            </a:r>
          </a:p>
          <a:p>
            <a:r>
              <a:t>Guardian fails closed on PII, prompt injection, unsafe recommendations and tool</a:t>
            </a:r>
          </a:p>
          <a:p>
            <a:r>
              <a:t>authorisation.</a:t>
            </a:r>
          </a:p>
          <a:p>
            <a:endParaRPr/>
          </a:p>
          <a:p>
            <a:r>
              <a:t>The chain ends in a human. The HITL gate is a real LangGraph interrupt — the</a:t>
            </a:r>
          </a:p>
          <a:p>
            <a:r>
              <a:t>graph stops and waits. Action then writes the MES quality incident and notifies</a:t>
            </a:r>
          </a:p>
          <a:p>
            <a:r>
              <a:t>Slack, and Learning feeds the outcome back into the memory bank and the</a:t>
            </a:r>
          </a:p>
          <a:p>
            <a:r>
              <a:t>thresholds.</a:t>
            </a:r>
          </a:p>
          <a:p>
            <a:endParaRPr/>
          </a:p>
          <a:p>
            <a:r>
              <a:t>The one sentence to remember: escalating to a human is a correct outcome here,</a:t>
            </a:r>
          </a:p>
          <a:p>
            <a:r>
              <a:t>never an error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features. Rather than read them out, let me highlight the three that a QA</a:t>
            </a:r>
          </a:p>
          <a:p>
            <a:r>
              <a:t>leader should press us on.</a:t>
            </a:r>
          </a:p>
          <a:p>
            <a:endParaRPr/>
          </a:p>
          <a:p>
            <a:r>
              <a:t>Root cause identification: the output is not a paragraph of plausible prose. It</a:t>
            </a:r>
          </a:p>
          <a:p>
            <a:r>
              <a:t>is grounded generation with mandatory inline citations back to specific</a:t>
            </a:r>
          </a:p>
          <a:p>
            <a:r>
              <a:t>documents and sections, and a groundedness self-check. If groundedness falls</a:t>
            </a:r>
          </a:p>
          <a:p>
            <a:r>
              <a:t>below zero point seven, the system re-retrieves with relaxed filters rather than</a:t>
            </a:r>
          </a:p>
          <a:p>
            <a:r>
              <a:t>answering weakly. Where nothing supports a claim, it says so.</a:t>
            </a:r>
          </a:p>
          <a:p>
            <a:endParaRPr/>
          </a:p>
          <a:p>
            <a:r>
              <a:t>Defect categorisation: there is an explicit UNKNOWN class. Below sixty percent</a:t>
            </a:r>
          </a:p>
          <a:p>
            <a:r>
              <a:t>confidence on nearest-exemplar match, the system declines to classify and</a:t>
            </a:r>
          </a:p>
          <a:p>
            <a:r>
              <a:t>escalates. We also hold one defect class entirely out of the memory bank —</a:t>
            </a:r>
          </a:p>
          <a:p>
            <a:r>
              <a:t>valve stem damage — specifically so we can measure unseen-defect detection</a:t>
            </a:r>
          </a:p>
          <a:p>
            <a:r>
              <a:t>honestly rather than grading ourselves on data we have already seen.</a:t>
            </a:r>
          </a:p>
          <a:p>
            <a:endParaRPr/>
          </a:p>
          <a:p>
            <a:r>
              <a:t>Risk-based recommendations: expected cost, not a severity lookup table. For</a:t>
            </a:r>
          </a:p>
          <a:p>
            <a:r>
              <a:t>each disposition we compute probability of defect times cost if defective, plus</a:t>
            </a:r>
          </a:p>
          <a:p>
            <a:r>
              <a:t>the complement times cost if fine, and recommend the minimum. Conservatism on</a:t>
            </a:r>
          </a:p>
          <a:p>
            <a:r>
              <a:t>safety-critical parts emerges from that cost asymmetry — we proved it with a</a:t>
            </a:r>
          </a:p>
          <a:p>
            <a:r>
              <a:t>test that zeroes recall exposure and watches ACCEPT stop looking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closed loop, and the two things worth your attention are the</a:t>
            </a:r>
          </a:p>
          <a:p>
            <a:r>
              <a:t>parallelism in step three and the timeline at the bottom.</a:t>
            </a:r>
          </a:p>
          <a:p>
            <a:endParaRPr/>
          </a:p>
          <a:p>
            <a:r>
              <a:t>Steps one and two: the unit arrives, we capture a torque-angle curve per</a:t>
            </a:r>
          </a:p>
          <a:p>
            <a:r>
              <a:t>fastener, an inspection image and sensor scalars, then join them to the MES work</a:t>
            </a:r>
          </a:p>
          <a:p>
            <a:r>
              <a:t>order, batch, tool, tokenised operator ID, shift and live ambient conditions.</a:t>
            </a:r>
          </a:p>
          <a:p>
            <a:endParaRPr/>
          </a:p>
          <a:p>
            <a:r>
              <a:t>Step three is deliberately deterministic and parallel. Signature fit, geometric</a:t>
            </a:r>
          </a:p>
          <a:p>
            <a:r>
              <a:t>verifiers and the cost engine are pure computation — microseconds, no model</a:t>
            </a:r>
          </a:p>
          <a:p>
            <a:r>
              <a:t>involved. Step four is where the language model enters, and only to explain a</a:t>
            </a:r>
          </a:p>
          <a:p>
            <a:r>
              <a:t>decision it did not make.</a:t>
            </a:r>
          </a:p>
          <a:p>
            <a:endParaRPr/>
          </a:p>
          <a:p>
            <a:r>
              <a:t>Read the timeline: at fifty milliseconds the verdict, evidence and cost are on</a:t>
            </a:r>
          </a:p>
          <a:p>
            <a:r>
              <a:t>the operator's screen. At around five seconds the narrative streams in beneath</a:t>
            </a:r>
          </a:p>
          <a:p>
            <a:r>
              <a:t>it. A single language-model call takes five to seven seconds on our hardware,</a:t>
            </a:r>
          </a:p>
          <a:p>
            <a:r>
              <a:t>so if the verdict waited on the model we would blow any realistic line budget.</a:t>
            </a:r>
          </a:p>
          <a:p>
            <a:r>
              <a:t>Making the decision deterministic is both faster and a much stronger safety</a:t>
            </a:r>
          </a:p>
          <a:p>
            <a:r>
              <a:t>claim.</a:t>
            </a:r>
          </a:p>
          <a:p>
            <a:endParaRPr/>
          </a:p>
          <a:p>
            <a:r>
              <a:t>Step six closes the loop. Operators confirm or correct the verdict, and that</a:t>
            </a:r>
          </a:p>
          <a:p>
            <a:r>
              <a:t>feedback re-tunes thresholds and the memory bank. Baselines are learned from</a:t>
            </a:r>
          </a:p>
          <a:p>
            <a:r>
              <a:t>clean runs at three sigma — not hand-picked — with one deliberate exception:</a:t>
            </a:r>
          </a:p>
          <a:p>
            <a:r>
              <a:t>spec limits come from engineering, never from data. A drifting process must not</a:t>
            </a:r>
          </a:p>
          <a:p>
            <a:r>
              <a:t>be allowed to redefine what is in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technical heart of the solution, and the chart is the single most</a:t>
            </a:r>
          </a:p>
          <a:p>
            <a:r>
              <a:t>important image in the deck.</a:t>
            </a:r>
          </a:p>
          <a:p>
            <a:endParaRPr/>
          </a:p>
          <a:p>
            <a:r>
              <a:t>Two torque-angle curves. Both end at 118 newton-metres, comfortably inside the</a:t>
            </a:r>
          </a:p>
          <a:p>
            <a:r>
              <a:t>110-to-125 spec band. Both would be passed by the fastening controller. Vision</a:t>
            </a:r>
          </a:p>
          <a:p>
            <a:r>
              <a:t>would also pass both — the bolts genuinely are present, seated, and there are</a:t>
            </a:r>
          </a:p>
          <a:p>
            <a:r>
              <a:t>five of them.</a:t>
            </a:r>
          </a:p>
          <a:p>
            <a:endParaRPr/>
          </a:p>
          <a:p>
            <a:r>
              <a:t>The difference is entirely in the shape. The contaminated thread seats later —</a:t>
            </a:r>
          </a:p>
          <a:p>
            <a:r>
              <a:t>knee at twenty point three degrees versus thirteen point nine — and climbs on a</a:t>
            </a:r>
          </a:p>
          <a:p>
            <a:r>
              <a:t>flatter elastic slope, 2.31 against 3.19. That is friction changing the</a:t>
            </a:r>
          </a:p>
          <a:p>
            <a:r>
              <a:t>relationship between torque and clamp load. The defect exists only in the curve</a:t>
            </a:r>
          </a:p>
          <a:p>
            <a:r>
              <a:t>shape, and only fusion sees it.</a:t>
            </a:r>
          </a:p>
          <a:p>
            <a:endParaRPr/>
          </a:p>
          <a:p>
            <a:r>
              <a:t>Measured results: fusion-only detection above eighty percent across 120 seed and</a:t>
            </a:r>
          </a:p>
          <a:p>
            <a:r>
              <a:t>severity combinations, false positives at two percent or below on clean runs.</a:t>
            </a:r>
          </a:p>
          <a:p>
            <a:endParaRPr/>
          </a:p>
          <a:p>
            <a:r>
              <a:t>Two honest limits I want on the record rather than tuned away. Mild over-torque</a:t>
            </a:r>
          </a:p>
          <a:p>
            <a:r>
              <a:t>that stays in spec is not reliably caught — it scores zero point two seven at</a:t>
            </a:r>
          </a:p>
          <a:p>
            <a:r>
              <a:t>low severity. And under-torque scores zero on curve shape; it is caught by the</a:t>
            </a:r>
          </a:p>
          <a:p>
            <a:r>
              <a:t>endpoint, not the signature. We report both because a system whose limits you</a:t>
            </a:r>
          </a:p>
          <a:p>
            <a:r>
              <a:t>know is a system you can trust; one whose limits are hidden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benefits, each with a number rather than an adjective.</a:t>
            </a:r>
          </a:p>
          <a:p>
            <a:endParaRPr/>
          </a:p>
          <a:p>
            <a:r>
              <a:t>Escaped defects per thousand units fall from four point two to one point four —</a:t>
            </a:r>
          </a:p>
          <a:p>
            <a:r>
              <a:t>sixty-seven percent — and that is almost entirely the effect of catching</a:t>
            </a:r>
          </a:p>
          <a:p>
            <a:r>
              <a:t>in-station rather than at final QC. Mean time to root cause falls from six and a</a:t>
            </a:r>
          </a:p>
          <a:p>
            <a:r>
              <a:t>half hours to one point four, a seventy-eight percent reduction, because the</a:t>
            </a:r>
          </a:p>
          <a:p>
            <a:r>
              <a:t>evidence chain is assembled and cited rather than reconstructed by whoever is on</a:t>
            </a:r>
          </a:p>
          <a:p>
            <a:r>
              <a:t>shift. First-pass yield up five point seven points. Inspection time per unit</a:t>
            </a:r>
          </a:p>
          <a:p>
            <a:r>
              <a:t>down from forty-eight seconds to twenty.</a:t>
            </a:r>
          </a:p>
          <a:p>
            <a:endParaRPr/>
          </a:p>
          <a:p>
            <a:r>
              <a:t>The fourth one is not a percentage and I want to be explicit about that.</a:t>
            </a:r>
          </a:p>
          <a:p>
            <a:r>
              <a:t>"Better decision making" means every disposition arrives priced, in rupees and</a:t>
            </a:r>
          </a:p>
          <a:p>
            <a:r>
              <a:t>dollars, with its assumption set attached and its uncertainty expressed as an</a:t>
            </a:r>
          </a:p>
          <a:p>
            <a:r>
              <a:t>interval rather than a point estimate. A cost figure without its assumptions is</a:t>
            </a:r>
          </a:p>
          <a:p>
            <a:r>
              <a:t>a claim. With them it is an argument — and an argument can be checked, which is</a:t>
            </a:r>
          </a:p>
          <a:p>
            <a:r>
              <a:t>what governance actually needs.</a:t>
            </a:r>
          </a:p>
          <a:p>
            <a:endParaRPr/>
          </a:p>
          <a:p>
            <a:r>
              <a:t>All of these figures come from the synthetic pilot dataset, flagged on the</a:t>
            </a:r>
          </a:p>
          <a:p>
            <a:r>
              <a:t>right. We would expect a real pilot to move them, and we would report the</a:t>
            </a:r>
          </a:p>
          <a:p>
            <a:r>
              <a:t>movement either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risks. For each one I want you to hear a control that already exists rather</a:t>
            </a:r>
          </a:p>
          <a:p>
            <a:r>
              <a:t>than a mitigation we intend to build.</a:t>
            </a:r>
          </a:p>
          <a:p>
            <a:endParaRPr/>
          </a:p>
          <a:p>
            <a:r>
              <a:t>Data quality is the highest risk in any system like this. Our control is a</a:t>
            </a:r>
          </a:p>
          <a:p>
            <a:r>
              <a:t>data-quality gate that currently rejects about three percent of incoming</a:t>
            </a:r>
          </a:p>
          <a:p>
            <a:r>
              <a:t>records, and we show the rejection log in the product. We inject dirty data on</a:t>
            </a:r>
          </a:p>
          <a:p>
            <a:r>
              <a:t>purpose in test — NaNs, stuck-at sensors, clock skew, out-of-range spikes,</a:t>
            </a:r>
          </a:p>
          <a:p>
            <a:r>
              <a:t>blown exposure.</a:t>
            </a:r>
          </a:p>
          <a:p>
            <a:endParaRPr/>
          </a:p>
          <a:p>
            <a:r>
              <a:t>User adoption is the risk that kills these programmes in practice. An inspector</a:t>
            </a:r>
          </a:p>
          <a:p>
            <a:r>
              <a:t>that generates false alarms gets muted within two weeks. Our control is the</a:t>
            </a:r>
          </a:p>
          <a:p>
            <a:r>
              <a:t>false-positive discipline — two percent or below — plus making operator feedback</a:t>
            </a:r>
          </a:p>
          <a:p>
            <a:r>
              <a:t>visibly change system behaviour, so correcting it is worth their time.</a:t>
            </a:r>
          </a:p>
          <a:p>
            <a:endParaRPr/>
          </a:p>
          <a:p>
            <a:r>
              <a:t>Integration complexity: every external system sits behind an interface with both</a:t>
            </a:r>
          </a:p>
          <a:p>
            <a:r>
              <a:t>a real and a fake implementation. That is why our test suite runs in about one</a:t>
            </a:r>
          </a:p>
          <a:p>
            <a:r>
              <a:t>and a half seconds and why a provider outage degrades the product instead of</a:t>
            </a:r>
          </a:p>
          <a:p>
            <a:r>
              <a:t>breaking it. Circuit breakers with half-open probing, retries with jitter,</a:t>
            </a:r>
          </a:p>
          <a:p>
            <a:r>
              <a:t>idempotency keys, bulkheads.</a:t>
            </a:r>
          </a:p>
          <a:p>
            <a:endParaRPr/>
          </a:p>
          <a:p>
            <a:r>
              <a:t>Governance: provenance on every AI-derived value, a full audit log, tokenised</a:t>
            </a:r>
          </a:p>
          <a:p>
            <a:r>
              <a:t>operator IDs, and an autonomy ceiling declared in configuration and enforced in</a:t>
            </a:r>
          </a:p>
          <a:p>
            <a:r>
              <a:t>code. One more separation worth noting: a platform administrator deliberately</a:t>
            </a:r>
          </a:p>
          <a:p>
            <a:r>
              <a:t>cannot override a quality verdict. Platform authority and quality authority are</a:t>
            </a:r>
          </a:p>
          <a:p>
            <a:r>
              <a:t>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takeaways, and the one I most want to leave you with is the second.</a:t>
            </a:r>
          </a:p>
          <a:p>
            <a:endParaRPr/>
          </a:p>
          <a:p>
            <a:r>
              <a:t>Detection alone is not the product. Anyone can buy a vision system. The value</a:t>
            </a:r>
          </a:p>
          <a:p>
            <a:r>
              <a:t>here is the chain: detect, explain the production condition that caused it,</a:t>
            </a:r>
          </a:p>
          <a:p>
            <a:r>
              <a:t>price the action by expected cost, and learn from what the operator decides.</a:t>
            </a:r>
          </a:p>
          <a:p>
            <a:endParaRPr/>
          </a:p>
          <a:p>
            <a:r>
              <a:t>The decision does not depend on a language model. That is unusual for an AI</a:t>
            </a:r>
          </a:p>
          <a:p>
            <a:r>
              <a:t>product pitch, and it is deliberate. The verdict is deterministic and lands in</a:t>
            </a:r>
          </a:p>
          <a:p>
            <a:r>
              <a:t>about fifty milliseconds. The model writes the explanation afterwards. If every</a:t>
            </a:r>
          </a:p>
          <a:p>
            <a:r>
              <a:t>model provider we use went down simultaneously, the safety decision would still</a:t>
            </a:r>
          </a:p>
          <a:p>
            <a:r>
              <a:t>be correct — we would simply lose the narrative, visibly and honestly.</a:t>
            </a:r>
          </a:p>
          <a:p>
            <a:endParaRPr/>
          </a:p>
          <a:p>
            <a:r>
              <a:t>Fusion is the differentiator: above eighty percent detection on a defect class</a:t>
            </a:r>
          </a:p>
          <a:p>
            <a:r>
              <a:t>that both torque endpoint and vision pass independently, at two percent or</a:t>
            </a:r>
          </a:p>
          <a:p>
            <a:r>
              <a:t>below false positives.</a:t>
            </a:r>
          </a:p>
          <a:p>
            <a:endParaRPr/>
          </a:p>
          <a:p>
            <a:r>
              <a:t>Governance is in the code, not in a policy document: provenance on every AI</a:t>
            </a:r>
          </a:p>
          <a:p>
            <a:r>
              <a:t>output, a full audit trail, five test-asserted roles, and an autonomy ceiling</a:t>
            </a:r>
          </a:p>
          <a:p>
            <a:r>
              <a:t>that says we may reject a part but never pass one or halt a line without a</a:t>
            </a:r>
          </a:p>
          <a:p>
            <a:r>
              <a:t>human.</a:t>
            </a:r>
          </a:p>
          <a:p>
            <a:endParaRPr/>
          </a:p>
          <a:p>
            <a:r>
              <a:t>The ask is specific and small: a thirty-day shadow-mode pilot on one station.</a:t>
            </a:r>
          </a:p>
          <a:p>
            <a:r>
              <a:t>No autonomy, no line impact — we run alongside the current process and measure</a:t>
            </a:r>
          </a:p>
          <a:p>
            <a:r>
              <a:t>against the live baseline. We need a named plant sponsor, read access to MES,</a:t>
            </a:r>
          </a:p>
          <a:p>
            <a:r>
              <a:t>and about two days a week from one QA engineer. The four pilot KPIs on the</a:t>
            </a:r>
          </a:p>
          <a:p>
            <a:r>
              <a:t>previous slide become the go / no-go gate.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8348472" y="1920240"/>
            <a:ext cx="2962656" cy="2962656"/>
          </a:xfrm>
          <a:prstGeom prst="ellipse">
            <a:avLst/>
          </a:prstGeom>
          <a:noFill/>
          <a:ln w="12700">
            <a:solidFill>
              <a:srgbClr val="DE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750808" y="2322576"/>
            <a:ext cx="2157984" cy="2157984"/>
          </a:xfrm>
          <a:prstGeom prst="ellipse">
            <a:avLst/>
          </a:prstGeom>
          <a:noFill/>
          <a:ln w="12700">
            <a:solidFill>
              <a:srgbClr val="DE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9308592" y="2880360"/>
            <a:ext cx="1042415" cy="1042415"/>
          </a:xfrm>
          <a:prstGeom prst="ellipse">
            <a:avLst/>
          </a:prstGeom>
          <a:solidFill>
            <a:srgbClr val="F7F4F2"/>
          </a:solidFill>
          <a:ln w="1905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9692640" y="2331720"/>
            <a:ext cx="274320" cy="274320"/>
          </a:xfrm>
          <a:prstGeom prst="ellipse">
            <a:avLst/>
          </a:prstGeom>
          <a:solidFill>
            <a:srgbClr val="F7F4F2"/>
          </a:solidFill>
          <a:ln w="1905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9747504" y="2386584"/>
            <a:ext cx="164592" cy="164592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10579679" y="2976191"/>
            <a:ext cx="274320" cy="274320"/>
          </a:xfrm>
          <a:prstGeom prst="ellipse">
            <a:avLst/>
          </a:prstGeom>
          <a:solidFill>
            <a:srgbClr val="F7F4F2"/>
          </a:solidFill>
          <a:ln w="1905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34543" y="3031055"/>
            <a:ext cx="164592" cy="164592"/>
          </a:xfrm>
          <a:prstGeom prst="ellipse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240860" y="4018968"/>
            <a:ext cx="274320" cy="274320"/>
          </a:xfrm>
          <a:prstGeom prst="ellipse">
            <a:avLst/>
          </a:prstGeom>
          <a:solidFill>
            <a:srgbClr val="F7F4F2"/>
          </a:solidFill>
          <a:ln w="1905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295724" y="4073832"/>
            <a:ext cx="164592" cy="164592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419" y="4018968"/>
            <a:ext cx="274320" cy="274320"/>
          </a:xfrm>
          <a:prstGeom prst="ellipse">
            <a:avLst/>
          </a:prstGeom>
          <a:solidFill>
            <a:srgbClr val="F7F4F2"/>
          </a:solidFill>
          <a:ln w="1905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99283" y="4073832"/>
            <a:ext cx="164592" cy="164592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05600" y="2976191"/>
            <a:ext cx="274320" cy="274320"/>
          </a:xfrm>
          <a:prstGeom prst="ellipse">
            <a:avLst/>
          </a:prstGeom>
          <a:solidFill>
            <a:srgbClr val="F7F4F2"/>
          </a:solidFill>
          <a:ln w="1905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0464" y="3031055"/>
            <a:ext cx="164592" cy="164592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5102352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837C"/>
                </a:solidFill>
                <a:latin typeface="Calibri"/>
              </a:rPr>
              <a:t>Wheel assembly station · 5-fastener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481328"/>
            <a:ext cx="7498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52B"/>
                </a:solidFill>
                <a:latin typeface="Calibri"/>
              </a:rPr>
              <a:t>AI FRIDAY SEASON 2   ·   REGIONAL FINALE   ·   TEAM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810512"/>
            <a:ext cx="7680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15120F"/>
                </a:solidFill>
                <a:latin typeface="Calibri"/>
              </a:rPr>
              <a:t>DEFECT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E1552B"/>
                </a:solidFill>
                <a:latin typeface="Calibri"/>
              </a:rPr>
              <a:t>SENSE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75887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950208"/>
            <a:ext cx="7223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B3530"/>
                </a:solidFill>
                <a:latin typeface="Calibri"/>
              </a:rPr>
              <a:t>Intelligent AI-Powered Manufacturing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B3530"/>
                </a:solidFill>
                <a:latin typeface="Calibri"/>
              </a:rPr>
              <a:t>Quality Control &amp; Defect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617720"/>
            <a:ext cx="72237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B837C"/>
                </a:solidFill>
                <a:latin typeface="Calibri"/>
              </a:rPr>
              <a:t>A multi-agent system that detects the defect, explains the production condition that caused it, and recommends the lowest-expected-cost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58384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358384"/>
            <a:ext cx="17007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1552B"/>
                </a:solidFill>
                <a:latin typeface="Calibri"/>
              </a:rPr>
              <a:t>MULTI-AGENT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41447" y="5358384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41447" y="5358384"/>
            <a:ext cx="17007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C1815"/>
                </a:solidFill>
                <a:latin typeface="Calibri"/>
              </a:rPr>
              <a:t>MULTIMODAL FUSION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6" y="5358384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8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15966" y="5358384"/>
            <a:ext cx="17007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B837C"/>
                </a:solidFill>
                <a:latin typeface="Calibri"/>
              </a:rPr>
              <a:t>HUMAN-IN-THE-LOOP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053328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199632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DNB AI Pioneers  ·  Wheel Assembly Defect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199632"/>
            <a:ext cx="33924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837C"/>
                </a:solidFill>
                <a:latin typeface="Calibri"/>
              </a:rPr>
              <a:t>08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DNB AI PIONEERS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Five engineers · 41 years of combined delivery experience across QA, data engineering and applied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188" y="2159812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340864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1552B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30428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120F"/>
                </a:solidFill>
                <a:latin typeface="Calibri"/>
              </a:rPr>
              <a:t>PUSHPENDRA KUMAR PANDEY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61518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815"/>
                </a:solidFill>
                <a:latin typeface="Calibri"/>
              </a:rPr>
              <a:t>Exp. 17 Years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2900" y="2159812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2121408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2340864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1552B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230428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120F"/>
                </a:solidFill>
                <a:latin typeface="Calibri"/>
              </a:rPr>
              <a:t>ABHIJEET TIWARI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261518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815"/>
                </a:solidFill>
                <a:latin typeface="Calibri"/>
              </a:rPr>
              <a:t>Exp. 13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871216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8B837C"/>
                </a:solidFill>
                <a:latin typeface="Calibri"/>
              </a:rPr>
              <a:t>DBA</a:t>
            </a:r>
            <a:r>
              <a:rPr lang="en-US" sz="1000" dirty="0">
                <a:solidFill>
                  <a:srgbClr val="8B837C"/>
                </a:solidFill>
                <a:latin typeface="Calibri"/>
              </a:rPr>
              <a:t> &amp;</a:t>
            </a:r>
            <a:r>
              <a:rPr sz="1000" b="0" i="0" dirty="0">
                <a:solidFill>
                  <a:srgbClr val="8B837C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8B837C"/>
                </a:solidFill>
                <a:latin typeface="Calibri"/>
              </a:rPr>
              <a:t>Data Profiling </a:t>
            </a:r>
            <a:endParaRPr sz="1000" b="0" i="0" dirty="0">
              <a:solidFill>
                <a:srgbClr val="8B837C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6188" y="3494836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3456432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675888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1552B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363931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120F"/>
                </a:solidFill>
                <a:latin typeface="Calibri"/>
              </a:rPr>
              <a:t>PRAKHAR INDORIA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95020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815"/>
                </a:solidFill>
                <a:latin typeface="Calibri"/>
              </a:rPr>
              <a:t>Exp. 5 Years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2900" y="3494836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63640" y="3456432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3675888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1552B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3639312"/>
            <a:ext cx="4114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15120F"/>
                </a:solidFill>
                <a:latin typeface="Calibri"/>
              </a:rPr>
              <a:t>YASH</a:t>
            </a:r>
            <a:r>
              <a:rPr lang="en-US" sz="1350" b="1" i="0" dirty="0">
                <a:solidFill>
                  <a:srgbClr val="15120F"/>
                </a:solidFill>
                <a:latin typeface="Calibri"/>
              </a:rPr>
              <a:t>V</a:t>
            </a:r>
            <a:r>
              <a:rPr sz="1350" b="1" i="0" dirty="0">
                <a:solidFill>
                  <a:srgbClr val="15120F"/>
                </a:solidFill>
                <a:latin typeface="Calibri"/>
              </a:rPr>
              <a:t>ANT PATIDAR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395020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815"/>
                </a:solidFill>
                <a:latin typeface="Calibri"/>
              </a:rPr>
              <a:t>Exp. 4 Years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20624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8B837C"/>
                </a:solidFill>
                <a:latin typeface="Calibri"/>
              </a:rPr>
              <a:t>AI Developer</a:t>
            </a:r>
            <a:endParaRPr sz="1000" b="0" i="0" dirty="0">
              <a:solidFill>
                <a:srgbClr val="8B837C"/>
              </a:solidFill>
              <a:latin typeface="Calibr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445915" y="4829860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416655" y="4791456"/>
            <a:ext cx="5358384" cy="109728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687" y="5010912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815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5919" y="497433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120F"/>
                </a:solidFill>
                <a:latin typeface="Calibri"/>
              </a:rPr>
              <a:t>ASHISH SHARMA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5919" y="528523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815"/>
                </a:solidFill>
                <a:latin typeface="Calibri"/>
              </a:rPr>
              <a:t>Exp. 2 Years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5919" y="5541264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dirty="0">
                <a:solidFill>
                  <a:srgbClr val="8B837C"/>
                </a:solidFill>
              </a:rPr>
              <a:t>AI Developer</a:t>
            </a:r>
            <a:endParaRPr sz="1000" b="0" i="0" dirty="0">
              <a:solidFill>
                <a:srgbClr val="8B837C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02 / 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EB87A7-4E73-1684-A9BC-631EA0BBE5DD}"/>
              </a:ext>
            </a:extLst>
          </p:cNvPr>
          <p:cNvSpPr txBox="1"/>
          <p:nvPr/>
        </p:nvSpPr>
        <p:spPr>
          <a:xfrm>
            <a:off x="1536192" y="2871216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dirty="0">
                <a:solidFill>
                  <a:srgbClr val="8B837C"/>
                </a:solidFill>
                <a:latin typeface="Calibri"/>
              </a:rPr>
              <a:t>Mentor</a:t>
            </a:r>
            <a:r>
              <a:rPr sz="1000" b="0" i="0" dirty="0">
                <a:solidFill>
                  <a:srgbClr val="8B837C"/>
                </a:solidFill>
                <a:latin typeface="Calibri"/>
              </a:rPr>
              <a:t> · </a:t>
            </a:r>
            <a:r>
              <a:rPr lang="en-US" sz="1000" b="0" i="0" dirty="0">
                <a:solidFill>
                  <a:srgbClr val="8B837C"/>
                </a:solidFill>
                <a:latin typeface="Calibri"/>
              </a:rPr>
              <a:t>Business Analysis</a:t>
            </a:r>
            <a:r>
              <a:rPr lang="en-US" sz="1000" dirty="0">
                <a:solidFill>
                  <a:srgbClr val="8B837C"/>
                </a:solidFill>
              </a:rPr>
              <a:t>, QA Automation</a:t>
            </a:r>
            <a:endParaRPr sz="1000" b="0" i="0" dirty="0">
              <a:solidFill>
                <a:srgbClr val="8B837C"/>
              </a:solidFill>
              <a:latin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2A8842-F7E3-3A94-73E2-7682799AD99F}"/>
              </a:ext>
            </a:extLst>
          </p:cNvPr>
          <p:cNvSpPr txBox="1"/>
          <p:nvPr/>
        </p:nvSpPr>
        <p:spPr>
          <a:xfrm>
            <a:off x="1533144" y="4184904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8B837C"/>
                </a:solidFill>
                <a:latin typeface="Calibri"/>
              </a:rPr>
              <a:t>Solution </a:t>
            </a:r>
            <a:r>
              <a:rPr lang="en-US" sz="1000" dirty="0">
                <a:solidFill>
                  <a:srgbClr val="8B837C"/>
                </a:solidFill>
                <a:latin typeface="Calibri"/>
              </a:rPr>
              <a:t>Architect</a:t>
            </a:r>
            <a:r>
              <a:rPr sz="1000" b="0" i="0" dirty="0">
                <a:solidFill>
                  <a:srgbClr val="8B837C"/>
                </a:solidFill>
                <a:latin typeface="Calibri"/>
              </a:rPr>
              <a:t> · </a:t>
            </a:r>
            <a:r>
              <a:rPr lang="en-US" sz="1000" dirty="0">
                <a:solidFill>
                  <a:srgbClr val="8B837C"/>
                </a:solidFill>
                <a:latin typeface="Calibri"/>
              </a:rPr>
              <a:t>Tech Lead</a:t>
            </a:r>
            <a:endParaRPr sz="1000" b="0" i="0" dirty="0">
              <a:solidFill>
                <a:srgbClr val="8B837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WHY DEFECT SENSE, AND WHAT IT DELIVERS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Detect the defect · explain the cause · decide on expected cost · act with a human in the loop · learn from the outcome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188" y="2251252"/>
            <a:ext cx="2647188" cy="1298448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212848"/>
            <a:ext cx="2647188" cy="1298448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414016"/>
            <a:ext cx="22082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C1815"/>
                </a:solidFill>
                <a:latin typeface="Calibri"/>
              </a:rPr>
              <a:t>94.2</a:t>
            </a:r>
            <a:r>
              <a:rPr sz="1300" b="1">
                <a:solidFill>
                  <a:srgbClr val="8B837C"/>
                </a:solidFill>
                <a:latin typeface="Calibri"/>
              </a:rPr>
              <a:t>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017520"/>
            <a:ext cx="22082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Defect detection accuracy on the held-out golden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6820" y="2251252"/>
            <a:ext cx="2647188" cy="1298448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37560" y="2212848"/>
            <a:ext cx="2647188" cy="1298448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7016" y="2414016"/>
            <a:ext cx="22082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E1552B"/>
                </a:solidFill>
                <a:latin typeface="Calibri"/>
              </a:rPr>
              <a:t>≤ 2</a:t>
            </a:r>
            <a:r>
              <a:rPr sz="1300" b="1">
                <a:solidFill>
                  <a:srgbClr val="8B837C"/>
                </a:solidFill>
                <a:latin typeface="Calibri"/>
              </a:rPr>
              <a:t>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017520"/>
            <a:ext cx="22082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False-positive rate measured on 120 clean production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7452" y="2251252"/>
            <a:ext cx="2647188" cy="1298448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08192" y="2212848"/>
            <a:ext cx="2647188" cy="1298448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2414016"/>
            <a:ext cx="22082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C1815"/>
                </a:solidFill>
                <a:latin typeface="Calibri"/>
              </a:rPr>
              <a:t>67</a:t>
            </a:r>
            <a:r>
              <a:rPr sz="1300" b="1">
                <a:solidFill>
                  <a:srgbClr val="8B837C"/>
                </a:solidFill>
                <a:latin typeface="Calibri"/>
              </a:rPr>
              <a:t>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017520"/>
            <a:ext cx="22082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Reduction in escaped defects per 1,000 units in pilot simulation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8084" y="2251252"/>
            <a:ext cx="2647188" cy="1298448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78824" y="2212848"/>
            <a:ext cx="2647188" cy="1298448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2414016"/>
            <a:ext cx="22082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E1552B"/>
                </a:solidFill>
                <a:latin typeface="Calibri"/>
              </a:rPr>
              <a:t>~50</a:t>
            </a:r>
            <a:r>
              <a:rPr sz="1300" b="1">
                <a:solidFill>
                  <a:srgbClr val="8B837C"/>
                </a:solidFill>
                <a:latin typeface="Calibri"/>
              </a:rPr>
              <a:t>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017520"/>
            <a:ext cx="22082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Time to a safety verdict — the decision never waits on a language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" y="3750867"/>
            <a:ext cx="5358384" cy="243230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6928" y="3712463"/>
            <a:ext cx="5358384" cy="2432304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3913632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PURPOSE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169663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3B3530"/>
                </a:solidFill>
                <a:latin typeface="Calibri"/>
              </a:rPr>
              <a:t>Catch the defect in-station, at the moment it is created — before it is built into a finished unit.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4828032"/>
            <a:ext cx="4809744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4974336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KEY BUSINESS VALUE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" y="5340096"/>
            <a:ext cx="77724" cy="77724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524865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B3530"/>
                </a:solidFill>
                <a:latin typeface="Calibri"/>
              </a:rPr>
              <a:t>Scrap, rework and warranty exposure move from reactive to prevented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" y="5724144"/>
            <a:ext cx="77724" cy="77724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8992" y="563270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B3530"/>
                </a:solidFill>
                <a:latin typeface="Calibri"/>
              </a:rPr>
              <a:t>Root cause in minutes, not shift handovers — with cited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2900" y="3750867"/>
            <a:ext cx="5358384" cy="243230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263640" y="3712463"/>
            <a:ext cx="5358384" cy="2432304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87705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EXPECTED OUTCOME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40696" y="3858768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8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40696" y="3858768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837C"/>
                </a:solidFill>
                <a:latin typeface="Calibri"/>
              </a:rPr>
              <a:t>SYNTHETIC DATA</a:t>
            </a:r>
          </a:p>
        </p:txBody>
      </p:sp>
      <p:pic>
        <p:nvPicPr>
          <p:cNvPr id="40" name="Picture 39" descr="defec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209" y="4151376"/>
            <a:ext cx="4869246" cy="1847088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CURRENT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FIVE CHALLENGES COSTING QUALITY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Manual inspection is not just slow — it is inconsistent, unexplainable and invisible to management until it is expensive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188" y="2159812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340864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1815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40280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20F"/>
                </a:solidFill>
                <a:latin typeface="Calibri"/>
              </a:rPr>
              <a:t>MANUAL DEFECT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478024"/>
            <a:ext cx="51755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837C"/>
                </a:solidFill>
                <a:latin typeface="Calibri"/>
              </a:rPr>
              <a:t>Paper and spreadsheet capture. Labour-intensive, subject to operator fatigue, no traceable record per unit.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" y="3014776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6928" y="2976372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195828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1815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095244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20F"/>
                </a:solidFill>
                <a:latin typeface="Calibri"/>
              </a:rPr>
              <a:t>LIMITED VISIBILITY ACROSS LINES AND SHIFTS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332988"/>
            <a:ext cx="51755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837C"/>
                </a:solidFill>
                <a:latin typeface="Calibri"/>
              </a:rPr>
              <a:t>No single view of quality across stations, batches, tools and shifts. Problems surface as anecdotes, not signals.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" y="3869740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66928" y="3831336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4050792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1815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950208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20F"/>
                </a:solidFill>
                <a:latin typeface="Calibri"/>
              </a:rPr>
              <a:t>DELAYED ROOT CAUSE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187952"/>
            <a:ext cx="51755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837C"/>
                </a:solidFill>
                <a:latin typeface="Calibri"/>
              </a:rPr>
              <a:t>Root cause takes hours to days and depends on who is available. By then the causal condition has already moved 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188" y="4724704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66928" y="4686300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4905756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1815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805172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20F"/>
                </a:solidFill>
                <a:latin typeface="Calibri"/>
              </a:rPr>
              <a:t>HIGH DEFECT LEAKAGE INTO 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042916"/>
            <a:ext cx="51755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837C"/>
                </a:solidFill>
                <a:latin typeface="Calibri"/>
              </a:rPr>
              <a:t>In-spec readings mask real defects. Torque endpoint and vision each say PASS while delivered clamp load is ~30% under target.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6188" y="5579668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66928" y="5541264"/>
            <a:ext cx="6144768" cy="73152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5760720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1815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660136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20F"/>
                </a:solidFill>
                <a:latin typeface="Calibri"/>
              </a:rPr>
              <a:t>REPORTING INEFFICIENCY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5897880"/>
            <a:ext cx="51755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837C"/>
                </a:solidFill>
                <a:latin typeface="Calibri"/>
              </a:rPr>
              <a:t>Quality reporting is assembled manually for each governance meeting — stale on arrival and impossible to audit.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33564" y="2159812"/>
            <a:ext cx="4617720" cy="402336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004304" y="2121408"/>
            <a:ext cx="4617720" cy="4023360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60336" y="2322576"/>
            <a:ext cx="4105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THE COST OF FINDING IT 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0336" y="2578608"/>
            <a:ext cx="410565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Relative cost to resolve one wheel-assembly defect, by the stage at which it is detected.</a:t>
            </a:r>
          </a:p>
        </p:txBody>
      </p:sp>
      <p:pic>
        <p:nvPicPr>
          <p:cNvPr id="38" name="Picture 37" descr="cost_esca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3174102"/>
            <a:ext cx="4215384" cy="21557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60336" y="5468112"/>
            <a:ext cx="410565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B3530"/>
                </a:solidFill>
                <a:latin typeface="Calibri"/>
              </a:rPr>
              <a:t>A defect that escapes to the field costs roughly 310× an in-station catch. Detection timing is the whole economic argument.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58984" y="2286000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8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58984" y="2286000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837C"/>
                </a:solidFill>
                <a:latin typeface="Calibri"/>
              </a:rPr>
              <a:t>SYNTHETIC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WHAT IS DEFECT SENSE?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6188" y="1775764"/>
            <a:ext cx="11055096" cy="78638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11055096" cy="786384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920240"/>
            <a:ext cx="104333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B3530"/>
                </a:solidFill>
                <a:latin typeface="Calibri"/>
              </a:rPr>
              <a:t>An enterprise multi-agent </a:t>
            </a:r>
            <a:r>
              <a:rPr lang="en-US" sz="1300" b="0" i="0" dirty="0">
                <a:solidFill>
                  <a:srgbClr val="3B3530"/>
                </a:solidFill>
                <a:latin typeface="Calibri"/>
              </a:rPr>
              <a:t>enterprise grade </a:t>
            </a:r>
            <a:r>
              <a:rPr sz="1300" b="0" i="0" dirty="0">
                <a:solidFill>
                  <a:srgbClr val="3B3530"/>
                </a:solidFill>
                <a:latin typeface="Calibri"/>
              </a:rPr>
              <a:t>platform that fuses inspection images, fastening-tool telemetry and MES production context into one evidence-backed decision — then explains it, prices it, and escalates it to a human when it should.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" y="2743200"/>
            <a:ext cx="2304288" cy="60350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120F"/>
                </a:solidFill>
                <a:latin typeface="Calibri"/>
              </a:rPr>
              <a:t>DETECT</a:t>
            </a:r>
            <a:r>
              <a:rPr sz="900">
                <a:solidFill>
                  <a:srgbClr val="8B837C"/>
                </a:solidFill>
                <a:latin typeface="Calibri"/>
              </a:rPr>
              <a:t>   Fuse signals</a:t>
            </a:r>
          </a:p>
        </p:txBody>
      </p:sp>
      <p:sp>
        <p:nvSpPr>
          <p:cNvPr id="12" name="Chevron 11"/>
          <p:cNvSpPr/>
          <p:nvPr/>
        </p:nvSpPr>
        <p:spPr>
          <a:xfrm>
            <a:off x="2747772" y="2743200"/>
            <a:ext cx="2304288" cy="603504"/>
          </a:xfrm>
          <a:prstGeom prst="chevron">
            <a:avLst/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120F"/>
                </a:solidFill>
                <a:latin typeface="Calibri"/>
              </a:rPr>
              <a:t>EXPLAIN</a:t>
            </a:r>
            <a:r>
              <a:rPr sz="900">
                <a:solidFill>
                  <a:srgbClr val="8B837C"/>
                </a:solidFill>
                <a:latin typeface="Calibri"/>
              </a:rPr>
              <a:t>   Cite evidence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4928616" y="2743200"/>
            <a:ext cx="2304288" cy="60350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120F"/>
                </a:solidFill>
                <a:latin typeface="Calibri"/>
              </a:rPr>
              <a:t>DECIDE</a:t>
            </a:r>
            <a:r>
              <a:rPr sz="900">
                <a:solidFill>
                  <a:srgbClr val="8B837C"/>
                </a:solidFill>
                <a:latin typeface="Calibri"/>
              </a:rPr>
              <a:t>   Expected cost</a:t>
            </a:r>
          </a:p>
        </p:txBody>
      </p:sp>
      <p:sp>
        <p:nvSpPr>
          <p:cNvPr id="14" name="Chevron 13"/>
          <p:cNvSpPr/>
          <p:nvPr/>
        </p:nvSpPr>
        <p:spPr>
          <a:xfrm>
            <a:off x="7109460" y="2743200"/>
            <a:ext cx="2304288" cy="603504"/>
          </a:xfrm>
          <a:prstGeom prst="chevron">
            <a:avLst/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120F"/>
                </a:solidFill>
                <a:latin typeface="Calibri"/>
              </a:rPr>
              <a:t>ACT</a:t>
            </a:r>
            <a:r>
              <a:rPr sz="900">
                <a:solidFill>
                  <a:srgbClr val="8B837C"/>
                </a:solidFill>
                <a:latin typeface="Calibri"/>
              </a:rPr>
              <a:t>   MES · Slack</a:t>
            </a:r>
          </a:p>
        </p:txBody>
      </p:sp>
      <p:sp>
        <p:nvSpPr>
          <p:cNvPr id="15" name="Chevron 14"/>
          <p:cNvSpPr/>
          <p:nvPr/>
        </p:nvSpPr>
        <p:spPr>
          <a:xfrm>
            <a:off x="9290304" y="2743200"/>
            <a:ext cx="2304288" cy="60350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120F"/>
                </a:solidFill>
                <a:latin typeface="Calibri"/>
              </a:rPr>
              <a:t>LEARN</a:t>
            </a:r>
            <a:r>
              <a:rPr sz="900">
                <a:solidFill>
                  <a:srgbClr val="8B837C"/>
                </a:solidFill>
                <a:latin typeface="Calibri"/>
              </a:rPr>
              <a:t>   Operator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" y="3641140"/>
            <a:ext cx="3566160" cy="25420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3602736"/>
            <a:ext cx="3566160" cy="25420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3785615"/>
            <a:ext cx="347472" cy="347472"/>
          </a:xfrm>
          <a:prstGeom prst="ellipse">
            <a:avLst/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785615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85876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CORE OBJECTIVES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38912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" y="429768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Detect defects in-station, at creation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475488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6" y="466344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Explain the causal production condition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512064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2416" y="502920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Price every disposition by expected cost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" y="548640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" y="539496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Escalate uncertainty to a human, by design</a:t>
            </a:r>
          </a:p>
        </p:txBody>
      </p:sp>
      <p:sp>
        <p:nvSpPr>
          <p:cNvPr id="29" name="Oval 28"/>
          <p:cNvSpPr/>
          <p:nvPr/>
        </p:nvSpPr>
        <p:spPr>
          <a:xfrm>
            <a:off x="841248" y="585216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2416" y="576072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Improve from operator feedback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0656" y="3641140"/>
            <a:ext cx="3566160" cy="25420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311396" y="3602736"/>
            <a:ext cx="3566160" cy="25420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49140" y="3785615"/>
            <a:ext cx="347472" cy="347472"/>
          </a:xfrm>
          <a:prstGeom prst="ellipse">
            <a:avLst/>
          </a:prstGeom>
          <a:solidFill>
            <a:srgbClr val="FCF1EC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49140" y="3785615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815"/>
                </a:solidFill>
                <a:latin typeface="Calibri"/>
              </a:rPr>
              <a:t>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6340" y="385876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1815"/>
                </a:solidFill>
                <a:latin typeface="Calibri"/>
              </a:rPr>
              <a:t>BUSINESS BENEFITS</a:t>
            </a:r>
          </a:p>
        </p:txBody>
      </p:sp>
      <p:sp>
        <p:nvSpPr>
          <p:cNvPr id="36" name="Oval 35"/>
          <p:cNvSpPr/>
          <p:nvPr/>
        </p:nvSpPr>
        <p:spPr>
          <a:xfrm>
            <a:off x="4585716" y="4389120"/>
            <a:ext cx="68580" cy="68580"/>
          </a:xfrm>
          <a:prstGeom prst="ellipse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86884" y="429768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Lower scrap, rework and warranty exposure</a:t>
            </a:r>
          </a:p>
        </p:txBody>
      </p:sp>
      <p:sp>
        <p:nvSpPr>
          <p:cNvPr id="38" name="Oval 37"/>
          <p:cNvSpPr/>
          <p:nvPr/>
        </p:nvSpPr>
        <p:spPr>
          <a:xfrm>
            <a:off x="4585716" y="4754880"/>
            <a:ext cx="68580" cy="68580"/>
          </a:xfrm>
          <a:prstGeom prst="ellipse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86884" y="466344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Root cause in minutes, with cited evidence</a:t>
            </a:r>
          </a:p>
        </p:txBody>
      </p:sp>
      <p:sp>
        <p:nvSpPr>
          <p:cNvPr id="40" name="Oval 39"/>
          <p:cNvSpPr/>
          <p:nvPr/>
        </p:nvSpPr>
        <p:spPr>
          <a:xfrm>
            <a:off x="4585716" y="5120640"/>
            <a:ext cx="68580" cy="68580"/>
          </a:xfrm>
          <a:prstGeom prst="ellipse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86884" y="502920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Consistent judgement across shifts and sites</a:t>
            </a:r>
          </a:p>
        </p:txBody>
      </p:sp>
      <p:sp>
        <p:nvSpPr>
          <p:cNvPr id="42" name="Oval 41"/>
          <p:cNvSpPr/>
          <p:nvPr/>
        </p:nvSpPr>
        <p:spPr>
          <a:xfrm>
            <a:off x="4585716" y="5486400"/>
            <a:ext cx="68580" cy="68580"/>
          </a:xfrm>
          <a:prstGeom prst="ellipse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86884" y="539496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Audit-ready quality record for every unit</a:t>
            </a:r>
          </a:p>
        </p:txBody>
      </p:sp>
      <p:sp>
        <p:nvSpPr>
          <p:cNvPr id="44" name="Oval 43"/>
          <p:cNvSpPr/>
          <p:nvPr/>
        </p:nvSpPr>
        <p:spPr>
          <a:xfrm>
            <a:off x="4585716" y="5852160"/>
            <a:ext cx="68580" cy="68580"/>
          </a:xfrm>
          <a:prstGeom prst="ellipse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86884" y="576072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Governance reporting generated, not assembled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85124" y="3641140"/>
            <a:ext cx="3566160" cy="25420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055864" y="3602736"/>
            <a:ext cx="3566160" cy="25420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8293608" y="3785615"/>
            <a:ext cx="347472" cy="347472"/>
          </a:xfrm>
          <a:prstGeom prst="ellipse">
            <a:avLst/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93608" y="3785615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50808" y="385876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TARGET USERS</a:t>
            </a:r>
          </a:p>
        </p:txBody>
      </p:sp>
      <p:sp>
        <p:nvSpPr>
          <p:cNvPr id="51" name="Oval 50"/>
          <p:cNvSpPr/>
          <p:nvPr/>
        </p:nvSpPr>
        <p:spPr>
          <a:xfrm>
            <a:off x="8330184" y="438912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31352" y="429768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Line operators  ·  in-station verdicts</a:t>
            </a:r>
          </a:p>
        </p:txBody>
      </p:sp>
      <p:sp>
        <p:nvSpPr>
          <p:cNvPr id="53" name="Oval 52"/>
          <p:cNvSpPr/>
          <p:nvPr/>
        </p:nvSpPr>
        <p:spPr>
          <a:xfrm>
            <a:off x="8330184" y="475488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31352" y="466344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Quality engineers  ·  root cause &amp; evidence</a:t>
            </a:r>
          </a:p>
        </p:txBody>
      </p:sp>
      <p:sp>
        <p:nvSpPr>
          <p:cNvPr id="55" name="Oval 54"/>
          <p:cNvSpPr/>
          <p:nvPr/>
        </p:nvSpPr>
        <p:spPr>
          <a:xfrm>
            <a:off x="8330184" y="512064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31352" y="502920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Quality managers  ·  trends, cost, sign-off</a:t>
            </a:r>
          </a:p>
        </p:txBody>
      </p:sp>
      <p:sp>
        <p:nvSpPr>
          <p:cNvPr id="57" name="Oval 56"/>
          <p:cNvSpPr/>
          <p:nvPr/>
        </p:nvSpPr>
        <p:spPr>
          <a:xfrm>
            <a:off x="8330184" y="548640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31352" y="539496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Plant leadership  ·  KPI and risk view</a:t>
            </a:r>
          </a:p>
        </p:txBody>
      </p:sp>
      <p:sp>
        <p:nvSpPr>
          <p:cNvPr id="59" name="Oval 58"/>
          <p:cNvSpPr/>
          <p:nvPr/>
        </p:nvSpPr>
        <p:spPr>
          <a:xfrm>
            <a:off x="8330184" y="585216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31352" y="5760720"/>
            <a:ext cx="2816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B3530"/>
                </a:solidFill>
                <a:latin typeface="Calibri"/>
              </a:rPr>
              <a:t>Platform admins  ·  config, health, audit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FIVE LAYERS, CLEAN BOUNDARIES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Every external system sits behind an interface with a real and a fake implementation — scaling is a configuration change, not a rewrite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188" y="2269540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231136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231136"/>
            <a:ext cx="50292" cy="676656"/>
          </a:xfrm>
          <a:prstGeom prst="rect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552B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3317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DATA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331720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2387562"/>
            <a:ext cx="1664208" cy="126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19" dirty="0">
                <a:solidFill>
                  <a:srgbClr val="3B3530"/>
                </a:solidFill>
              </a:rPr>
              <a:t>Sensor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2331720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7216" y="2331720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Fastening-tool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94576" y="2331720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94576" y="2331720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Station inspection images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9856" y="2596896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2652738"/>
            <a:ext cx="1664208" cy="126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19" dirty="0">
                <a:solidFill>
                  <a:srgbClr val="3B3530"/>
                </a:solidFill>
              </a:rPr>
              <a:t>MES / ERP work orders</a:t>
            </a:r>
            <a:endParaRPr sz="819" b="0" i="0" dirty="0">
              <a:solidFill>
                <a:srgbClr val="3B3530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157216" y="2596896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57216" y="2596896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Live ambient &amp; recall feeds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188" y="3037636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66928" y="2999232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2999232"/>
            <a:ext cx="50292" cy="676656"/>
          </a:xfrm>
          <a:prstGeom prst="rect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20040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552B"/>
                </a:solidFill>
                <a:latin typeface="Calibr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" y="3099816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DATA PROCESSING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19856" y="3099816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19856" y="3099816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 dirty="0">
                <a:solidFill>
                  <a:srgbClr val="3B3530"/>
                </a:solidFill>
                <a:latin typeface="Calibri"/>
              </a:rPr>
              <a:t>Schema &amp; range 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57216" y="3099816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57216" y="3099816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Data-quality gate (~3% rejected)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94576" y="3099816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94576" y="3099816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Image normalisation &amp; ROI align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9856" y="3364992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19856" y="3364992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PII tokenisation before any LLM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57216" y="3364992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57216" y="3364992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 dirty="0">
                <a:solidFill>
                  <a:srgbClr val="3B3530"/>
                </a:solidFill>
                <a:latin typeface="Calibri"/>
              </a:rPr>
              <a:t>Correlation ID stamped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6188" y="3805732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66928" y="3767328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" y="3767328"/>
            <a:ext cx="50292" cy="676656"/>
          </a:xfrm>
          <a:prstGeom prst="rect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8096" y="396849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815"/>
                </a:solidFill>
                <a:latin typeface="Calibr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5296" y="38679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ANALYTICS &amp; AI ENGINE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19856" y="3867912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19856" y="3867912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Torque-angle signature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57216" y="3867912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57216" y="3867912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Geometric CV verifiers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94576" y="3867912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94576" y="3867912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Adjudicator with reflection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19856" y="4133088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19856" y="4133088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Expected-cost triage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57216" y="4133088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57216" y="4133088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Hybrid RAG root cause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188" y="4573828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66928" y="4535424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66928" y="4535424"/>
            <a:ext cx="50292" cy="676656"/>
          </a:xfrm>
          <a:prstGeom prst="rect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8096" y="473659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815"/>
                </a:solidFill>
                <a:latin typeface="Calibri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25296" y="46360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DASHBOARD &amp; REPORTING LAYER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19856" y="4636008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19856" y="4636008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Real-time defect wall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57216" y="4636008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57216" y="4636008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Trend &amp; Pareto analytics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94576" y="4636008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94576" y="4636008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Evidence &amp; provenance strip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419856" y="4901184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419856" y="4901184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Governance report export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57216" y="4901184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157216" y="4957026"/>
            <a:ext cx="1664208" cy="126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19" dirty="0">
                <a:solidFill>
                  <a:srgbClr val="3B3530"/>
                </a:solidFill>
                <a:latin typeface="Calibri"/>
              </a:rPr>
              <a:t>E</a:t>
            </a:r>
            <a:r>
              <a:rPr sz="819" b="0" i="0" dirty="0">
                <a:solidFill>
                  <a:srgbClr val="3B3530"/>
                </a:solidFill>
                <a:latin typeface="Calibri"/>
              </a:rPr>
              <a:t>mail</a:t>
            </a:r>
            <a:r>
              <a:rPr lang="en-US" sz="819" b="0" i="0" dirty="0">
                <a:solidFill>
                  <a:srgbClr val="3B3530"/>
                </a:solidFill>
                <a:latin typeface="Calibri"/>
              </a:rPr>
              <a:t>/Slack</a:t>
            </a:r>
            <a:r>
              <a:rPr sz="819" b="0" i="0" dirty="0">
                <a:solidFill>
                  <a:srgbClr val="3B3530"/>
                </a:solidFill>
                <a:latin typeface="Calibri"/>
              </a:rPr>
              <a:t> notification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6188" y="5341924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566928" y="5303520"/>
            <a:ext cx="8101583" cy="676656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66928" y="5303520"/>
            <a:ext cx="50292" cy="676656"/>
          </a:xfrm>
          <a:prstGeom prst="rect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68096" y="550468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552B"/>
                </a:solidFill>
                <a:latin typeface="Calibri"/>
              </a:rPr>
              <a:t>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25296" y="5404104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USER ACCESS LAYER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419856" y="5404104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419856" y="5459946"/>
            <a:ext cx="1664208" cy="126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19" b="0" i="0" dirty="0">
                <a:solidFill>
                  <a:srgbClr val="3B3530"/>
                </a:solidFill>
                <a:latin typeface="Calibri"/>
              </a:rPr>
              <a:t>3</a:t>
            </a:r>
            <a:r>
              <a:rPr sz="819" b="0" i="0" dirty="0">
                <a:solidFill>
                  <a:srgbClr val="3B3530"/>
                </a:solidFill>
                <a:latin typeface="Calibri"/>
              </a:rPr>
              <a:t> roles, test-asserted RBAC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57216" y="5404104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157216" y="5404104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JWT in memory + refresh cookie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94576" y="5404104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894576" y="5404104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Tool authorisation at dispatcher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419856" y="5669280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419856" y="5669280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Human-in-the-loop gates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157216" y="5669280"/>
            <a:ext cx="1664208" cy="237744"/>
          </a:xfrm>
          <a:prstGeom prst="roundRect">
            <a:avLst>
              <a:gd name="adj" fmla="val 50000"/>
            </a:avLst>
          </a:prstGeom>
          <a:solidFill>
            <a:srgbClr val="F7F4F2"/>
          </a:solidFill>
          <a:ln w="1143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57216" y="5669280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B3530"/>
                </a:solidFill>
                <a:latin typeface="Calibri"/>
              </a:rPr>
              <a:t>Full audit log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972091" y="2269540"/>
            <a:ext cx="2679193" cy="3749039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942831" y="2231136"/>
            <a:ext cx="2679193" cy="3749039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180575" y="2377440"/>
            <a:ext cx="220370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CROSS-CUTTING</a:t>
            </a:r>
          </a:p>
        </p:txBody>
      </p:sp>
      <p:sp>
        <p:nvSpPr>
          <p:cNvPr id="87" name="Oval 86"/>
          <p:cNvSpPr/>
          <p:nvPr/>
        </p:nvSpPr>
        <p:spPr>
          <a:xfrm>
            <a:off x="9198863" y="2752344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00031" y="2688336"/>
            <a:ext cx="194767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Layering enforced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00031" y="2907792"/>
            <a:ext cx="194767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5 executable architecture rules, all green</a:t>
            </a:r>
          </a:p>
        </p:txBody>
      </p:sp>
      <p:sp>
        <p:nvSpPr>
          <p:cNvPr id="90" name="Oval 89"/>
          <p:cNvSpPr/>
          <p:nvPr/>
        </p:nvSpPr>
        <p:spPr>
          <a:xfrm>
            <a:off x="9198863" y="3410712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400031" y="3346704"/>
            <a:ext cx="194767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Resilience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00031" y="3566160"/>
            <a:ext cx="194767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Circuit breakers, retries, bulkheads, DLQ</a:t>
            </a:r>
          </a:p>
        </p:txBody>
      </p:sp>
      <p:sp>
        <p:nvSpPr>
          <p:cNvPr id="93" name="Oval 92"/>
          <p:cNvSpPr/>
          <p:nvPr/>
        </p:nvSpPr>
        <p:spPr>
          <a:xfrm>
            <a:off x="9198863" y="4069080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400031" y="4005072"/>
            <a:ext cx="194767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Model independence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00031" y="4224528"/>
            <a:ext cx="194767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Tiered LLM config — no hardcoded model ID</a:t>
            </a:r>
          </a:p>
        </p:txBody>
      </p:sp>
      <p:sp>
        <p:nvSpPr>
          <p:cNvPr id="96" name="Oval 95"/>
          <p:cNvSpPr/>
          <p:nvPr/>
        </p:nvSpPr>
        <p:spPr>
          <a:xfrm>
            <a:off x="9198863" y="4727448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400031" y="4663440"/>
            <a:ext cx="194767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Observability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00031" y="4882896"/>
            <a:ext cx="194767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JSON logs, metrics, spans, in-product health</a:t>
            </a:r>
          </a:p>
        </p:txBody>
      </p:sp>
      <p:sp>
        <p:nvSpPr>
          <p:cNvPr id="99" name="Oval 98"/>
          <p:cNvSpPr/>
          <p:nvPr/>
        </p:nvSpPr>
        <p:spPr>
          <a:xfrm>
            <a:off x="9198863" y="5385816"/>
            <a:ext cx="68580" cy="68580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400031" y="5321808"/>
            <a:ext cx="194767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Autonomy ceiling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00031" y="5541264"/>
            <a:ext cx="194767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Rejects a part; never passes or halts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AGENTIC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MULTI-AGENT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Fourteen coordinated nodes on one shared state object · handoff is state, not messages · reflection fires on a number, never on a vibe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39696"/>
            <a:ext cx="3401568" cy="530352"/>
          </a:xfrm>
          <a:prstGeom prst="roundRect">
            <a:avLst>
              <a:gd name="adj" fmla="val 10000"/>
            </a:avLst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23113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23160"/>
            <a:ext cx="2962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inspection image + sensor scalars + MES record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21992" y="2734056"/>
            <a:ext cx="91440" cy="128016"/>
          </a:xfrm>
          <a:prstGeom prst="down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6188" y="2964484"/>
            <a:ext cx="3401568" cy="69494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6928" y="2926080"/>
            <a:ext cx="3401568" cy="69494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6928" y="2926080"/>
            <a:ext cx="45720" cy="694944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9946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2985516"/>
            <a:ext cx="2633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172968"/>
            <a:ext cx="2633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validate · normalise · DQ gate · lineage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364992"/>
            <a:ext cx="2633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every record tagged SYNTHETIC or REAL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21992" y="3685032"/>
            <a:ext cx="91440" cy="128016"/>
          </a:xfrm>
          <a:prstGeom prst="down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6188" y="3915460"/>
            <a:ext cx="3401568" cy="69494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3877056"/>
            <a:ext cx="3401568" cy="69494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3877056"/>
            <a:ext cx="45720" cy="694944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9456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3936492"/>
            <a:ext cx="2633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COMPONENT IDENTIFIER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123944"/>
            <a:ext cx="2633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vision tier: “what part is this?”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4315968"/>
            <a:ext cx="2633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returns a confidence with the answer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2221992" y="4636008"/>
            <a:ext cx="91440" cy="128016"/>
          </a:xfrm>
          <a:prstGeom prst="down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536192" y="481888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36192" y="481888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1552B"/>
                </a:solidFill>
                <a:latin typeface="Calibri"/>
              </a:rPr>
              <a:t>KNOWN PACK?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67712" y="5074920"/>
            <a:ext cx="0" cy="73152"/>
          </a:xfrm>
          <a:prstGeom prst="line">
            <a:avLst/>
          </a:prstGeom>
          <a:ln w="12700">
            <a:solidFill>
              <a:srgbClr val="E15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85800" y="5148072"/>
            <a:ext cx="1581912" cy="0"/>
          </a:xfrm>
          <a:prstGeom prst="line">
            <a:avLst/>
          </a:prstGeom>
          <a:ln w="12700">
            <a:solidFill>
              <a:srgbClr val="E15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5800" y="5148072"/>
            <a:ext cx="0" cy="722376"/>
          </a:xfrm>
          <a:prstGeom prst="line">
            <a:avLst/>
          </a:prstGeom>
          <a:ln w="12700">
            <a:solidFill>
              <a:srgbClr val="E15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ight Arrow 33"/>
          <p:cNvSpPr/>
          <p:nvPr/>
        </p:nvSpPr>
        <p:spPr>
          <a:xfrm>
            <a:off x="704088" y="5326380"/>
            <a:ext cx="118872" cy="82296"/>
          </a:xfrm>
          <a:prstGeom prst="rightArrow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59536" y="5230368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2416" y="5289804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C1815"/>
                </a:solidFill>
                <a:latin typeface="Calibri"/>
              </a:rP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9616" y="5289804"/>
            <a:ext cx="22677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37C"/>
                </a:solidFill>
                <a:latin typeface="Calibri"/>
              </a:rPr>
              <a:t>load the existing use-case pack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04088" y="5829300"/>
            <a:ext cx="118872" cy="82296"/>
          </a:xfrm>
          <a:prstGeom prst="rightArrow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88796" y="5634532"/>
            <a:ext cx="3108960" cy="54864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59536" y="5596128"/>
            <a:ext cx="3108960" cy="548640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2416" y="566928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1552B"/>
                </a:solidFill>
                <a:latin typeface="Calibri"/>
              </a:rP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5655564"/>
            <a:ext cx="23408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120F"/>
                </a:solidFill>
                <a:latin typeface="Calibri"/>
              </a:rPr>
              <a:t>03   DETECTOR SYNTHESIS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4752" y="5838444"/>
            <a:ext cx="23408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37C"/>
                </a:solidFill>
                <a:latin typeface="Calibri"/>
              </a:rPr>
              <a:t>generate → verify → sandbox → holdout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4752" y="5984748"/>
            <a:ext cx="23408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1552B"/>
                </a:solidFill>
                <a:latin typeface="Calibri"/>
              </a:rPr>
              <a:t>→  HUMAN APPROVES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032504" y="5504688"/>
            <a:ext cx="137160" cy="100584"/>
          </a:xfrm>
          <a:prstGeom prst="rightArrow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217212" y="2178100"/>
            <a:ext cx="7397496" cy="400507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187952" y="2139696"/>
            <a:ext cx="7397496" cy="4005072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0" y="224942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04   ORCHESTRATOR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245059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LangGraph state machine over a single shared QCState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27464" y="2249424"/>
            <a:ext cx="195681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27464" y="2249424"/>
            <a:ext cx="195681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1815"/>
                </a:solidFill>
                <a:latin typeface="Calibri"/>
              </a:rPr>
              <a:t>SUPERVISOR + SPECIALISTS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18380" y="2763316"/>
            <a:ext cx="2234184" cy="67665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389120" y="2724912"/>
            <a:ext cx="2234184" cy="676656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389120" y="2724912"/>
            <a:ext cx="2234184" cy="36576"/>
          </a:xfrm>
          <a:prstGeom prst="rect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53712" y="284378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19472" y="2834640"/>
            <a:ext cx="1539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VISION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53712" y="3090672"/>
            <a:ext cx="1905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geometric verifiers — exact, explainable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98868" y="2763316"/>
            <a:ext cx="2234184" cy="67665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769608" y="2724912"/>
            <a:ext cx="2234184" cy="676656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769608" y="2724912"/>
            <a:ext cx="2234184" cy="36576"/>
          </a:xfrm>
          <a:prstGeom prst="rect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934200" y="284378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99960" y="2834640"/>
            <a:ext cx="1539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PROCESS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34200" y="3090672"/>
            <a:ext cx="1905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torque signature + generated detectors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79356" y="2763316"/>
            <a:ext cx="2234184" cy="67665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150096" y="2724912"/>
            <a:ext cx="2234184" cy="676656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150096" y="2724912"/>
            <a:ext cx="2234184" cy="36576"/>
          </a:xfrm>
          <a:prstGeom prst="rect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14688" y="284378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07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80448" y="2834640"/>
            <a:ext cx="1539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CONTEXT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14688" y="3090672"/>
            <a:ext cx="1905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MES metadata + live ambient / recall APIs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378440" y="2459736"/>
            <a:ext cx="1042415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378440" y="2459736"/>
            <a:ext cx="1042415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1552B"/>
                </a:solidFill>
                <a:latin typeface="Calibri"/>
              </a:rPr>
              <a:t>PARALLEL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506212" y="3401568"/>
            <a:ext cx="0" cy="73152"/>
          </a:xfrm>
          <a:prstGeom prst="line">
            <a:avLst/>
          </a:prstGeom>
          <a:ln w="12700">
            <a:solidFill>
              <a:srgbClr val="E7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886700" y="3401568"/>
            <a:ext cx="0" cy="73152"/>
          </a:xfrm>
          <a:prstGeom prst="line">
            <a:avLst/>
          </a:prstGeom>
          <a:ln w="12700">
            <a:solidFill>
              <a:srgbClr val="E7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267188" y="3401568"/>
            <a:ext cx="0" cy="73152"/>
          </a:xfrm>
          <a:prstGeom prst="line">
            <a:avLst/>
          </a:prstGeom>
          <a:ln w="12700">
            <a:solidFill>
              <a:srgbClr val="E7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506212" y="3474720"/>
            <a:ext cx="4760976" cy="0"/>
          </a:xfrm>
          <a:prstGeom prst="line">
            <a:avLst/>
          </a:prstGeom>
          <a:ln w="12700">
            <a:solidFill>
              <a:srgbClr val="E7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Down Arrow 75"/>
          <p:cNvSpPr/>
          <p:nvPr/>
        </p:nvSpPr>
        <p:spPr>
          <a:xfrm>
            <a:off x="7840980" y="3474720"/>
            <a:ext cx="91440" cy="91440"/>
          </a:xfrm>
          <a:prstGeom prst="down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4418380" y="3641140"/>
            <a:ext cx="4626864" cy="42062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4389120" y="3602736"/>
            <a:ext cx="4626864" cy="4206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4389120" y="3602736"/>
            <a:ext cx="45720" cy="420624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72000" y="36713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74336" y="3662172"/>
            <a:ext cx="3858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ADJUDICATOR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74336" y="3849624"/>
            <a:ext cx="3858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deterministic verdict in ~50 ms; LLM narrative streams in after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9034272" y="3776472"/>
            <a:ext cx="91440" cy="73152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198864" y="3822192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B837C"/>
                </a:solidFill>
                <a:latin typeface="Calibri"/>
              </a:rPr>
              <a:t>Signals disagree → re-query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4914900" y="4027932"/>
            <a:ext cx="82296" cy="73152"/>
          </a:xfrm>
          <a:prstGeom prst="down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4418380" y="4139488"/>
            <a:ext cx="4626864" cy="42062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4389120" y="4101084"/>
            <a:ext cx="4626864" cy="4206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4389120" y="4101084"/>
            <a:ext cx="45720" cy="420624"/>
          </a:xfrm>
          <a:prstGeom prst="roundRect">
            <a:avLst>
              <a:gd name="adj" fmla="val 50000"/>
            </a:avLst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572000" y="4169664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815"/>
                </a:solidFill>
                <a:latin typeface="Calibri"/>
              </a:rPr>
              <a:t>09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74336" y="4160520"/>
            <a:ext cx="3858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ROOT CAUSE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74336" y="4347972"/>
            <a:ext cx="3858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Hybrid RAG — BM25 + dense, reranked; every claim cited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9034272" y="4274820"/>
            <a:ext cx="91440" cy="73152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98864" y="4320540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 dirty="0" err="1">
                <a:solidFill>
                  <a:srgbClr val="8B837C"/>
                </a:solidFill>
                <a:latin typeface="Calibri"/>
              </a:rPr>
              <a:t>Groundedness</a:t>
            </a:r>
            <a:r>
              <a:rPr sz="780" b="0" i="0" dirty="0">
                <a:solidFill>
                  <a:srgbClr val="8B837C"/>
                </a:solidFill>
                <a:latin typeface="Calibri"/>
              </a:rPr>
              <a:t> &lt; 0.7 → re-retrieve</a:t>
            </a:r>
          </a:p>
        </p:txBody>
      </p:sp>
      <p:sp>
        <p:nvSpPr>
          <p:cNvPr id="96" name="Down Arrow 95"/>
          <p:cNvSpPr/>
          <p:nvPr/>
        </p:nvSpPr>
        <p:spPr>
          <a:xfrm>
            <a:off x="4914900" y="4526280"/>
            <a:ext cx="82296" cy="73152"/>
          </a:xfrm>
          <a:prstGeom prst="down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4418380" y="4637836"/>
            <a:ext cx="4626864" cy="42062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4389120" y="4599432"/>
            <a:ext cx="4626864" cy="4206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4389120" y="4599432"/>
            <a:ext cx="45720" cy="420624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572000" y="466801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74336" y="4658868"/>
            <a:ext cx="3858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COST TRIAGE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74336" y="4846320"/>
            <a:ext cx="3858768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 dirty="0">
                <a:solidFill>
                  <a:srgbClr val="8B837C"/>
                </a:solidFill>
                <a:latin typeface="Calibri"/>
              </a:rPr>
              <a:t>expected-cost </a:t>
            </a:r>
            <a:r>
              <a:rPr sz="819" b="0" i="0" dirty="0" err="1">
                <a:solidFill>
                  <a:srgbClr val="8B837C"/>
                </a:solidFill>
                <a:latin typeface="Calibri"/>
              </a:rPr>
              <a:t>minimisation</a:t>
            </a:r>
            <a:r>
              <a:rPr sz="819" b="0" i="0" dirty="0">
                <a:solidFill>
                  <a:srgbClr val="8B837C"/>
                </a:solidFill>
                <a:latin typeface="Calibri"/>
              </a:rPr>
              <a:t> across dispositions, ₹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9034272" y="4773168"/>
            <a:ext cx="91440" cy="73152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198864" y="4722876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1815"/>
                </a:solidFill>
                <a:latin typeface="Calibri"/>
              </a:rPr>
              <a:t>Escalates when the top two options sit within 10%</a:t>
            </a:r>
          </a:p>
        </p:txBody>
      </p:sp>
      <p:sp>
        <p:nvSpPr>
          <p:cNvPr id="105" name="Down Arrow 104"/>
          <p:cNvSpPr/>
          <p:nvPr/>
        </p:nvSpPr>
        <p:spPr>
          <a:xfrm>
            <a:off x="4914900" y="5024628"/>
            <a:ext cx="82296" cy="73152"/>
          </a:xfrm>
          <a:prstGeom prst="down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4418380" y="5136184"/>
            <a:ext cx="4626864" cy="42062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4389120" y="5097780"/>
            <a:ext cx="4626864" cy="42062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4389120" y="5097780"/>
            <a:ext cx="45720" cy="420624"/>
          </a:xfrm>
          <a:prstGeom prst="roundRect">
            <a:avLst>
              <a:gd name="adj" fmla="val 50000"/>
            </a:avLst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572000" y="516636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815"/>
                </a:solidFill>
                <a:latin typeface="Calibri"/>
              </a:rPr>
              <a:t>11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74336" y="5157216"/>
            <a:ext cx="3858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GUARDIAN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974336" y="5344668"/>
            <a:ext cx="3858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837C"/>
                </a:solidFill>
                <a:latin typeface="Calibri"/>
              </a:rPr>
              <a:t>fail closed — PII, injection, unsafe rec, tool authorisation</a:t>
            </a:r>
          </a:p>
        </p:txBody>
      </p:sp>
      <p:sp>
        <p:nvSpPr>
          <p:cNvPr id="112" name="Right Arrow 111"/>
          <p:cNvSpPr/>
          <p:nvPr/>
        </p:nvSpPr>
        <p:spPr>
          <a:xfrm>
            <a:off x="9034272" y="5271516"/>
            <a:ext cx="91440" cy="73152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198864" y="5221224"/>
            <a:ext cx="21854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1815"/>
                </a:solidFill>
                <a:latin typeface="Calibri"/>
              </a:rPr>
              <a:t>Denies by default. Escalation is a correct outcome.</a:t>
            </a:r>
          </a:p>
        </p:txBody>
      </p:sp>
      <p:sp>
        <p:nvSpPr>
          <p:cNvPr id="114" name="Down Arrow 113"/>
          <p:cNvSpPr/>
          <p:nvPr/>
        </p:nvSpPr>
        <p:spPr>
          <a:xfrm>
            <a:off x="4914900" y="5522976"/>
            <a:ext cx="82296" cy="73152"/>
          </a:xfrm>
          <a:prstGeom prst="down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4418380" y="5643676"/>
            <a:ext cx="2197608" cy="43891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4389120" y="5605272"/>
            <a:ext cx="2197608" cy="438912"/>
          </a:xfrm>
          <a:prstGeom prst="roundRect">
            <a:avLst>
              <a:gd name="adj" fmla="val 8500"/>
            </a:avLst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535424" y="566928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1552B"/>
                </a:solidFill>
                <a:latin typeface="Calibri"/>
              </a:rPr>
              <a:t>12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64608" y="5664708"/>
            <a:ext cx="1575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120F"/>
                </a:solidFill>
                <a:latin typeface="Calibri"/>
              </a:rPr>
              <a:t>HITL GATE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35424" y="5856732"/>
            <a:ext cx="1905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37C"/>
                </a:solidFill>
                <a:latin typeface="Calibri"/>
              </a:rPr>
              <a:t>interrupt() — a human decides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6637020" y="5783580"/>
            <a:ext cx="100584" cy="77724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6817156" y="5643676"/>
            <a:ext cx="2197608" cy="43891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6787896" y="5605272"/>
            <a:ext cx="2197608" cy="43891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934200" y="566928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1552B"/>
                </a:solidFill>
                <a:latin typeface="Calibri"/>
              </a:rPr>
              <a:t>13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263384" y="5664708"/>
            <a:ext cx="1575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120F"/>
                </a:solidFill>
                <a:latin typeface="Calibri"/>
              </a:rPr>
              <a:t>ACTION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34200" y="5856732"/>
            <a:ext cx="1905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37C"/>
                </a:solidFill>
                <a:latin typeface="Calibri"/>
              </a:rPr>
              <a:t>MES quality incident · Slack · events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9035796" y="5783580"/>
            <a:ext cx="100584" cy="77724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9215932" y="5643676"/>
            <a:ext cx="2197608" cy="43891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9186672" y="5605272"/>
            <a:ext cx="2197608" cy="43891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332976" y="566928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1552B"/>
                </a:solidFill>
                <a:latin typeface="Calibri"/>
              </a:rPr>
              <a:t>14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662160" y="5664708"/>
            <a:ext cx="1575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120F"/>
                </a:solidFill>
                <a:latin typeface="Calibri"/>
              </a:rPr>
              <a:t>LEARNING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332976" y="5856732"/>
            <a:ext cx="1905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837C"/>
                </a:solidFill>
                <a:latin typeface="Calibri"/>
              </a:rPr>
              <a:t>memory bank + threshold re-tuning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SIX FEATURES THAT CHANGE THE QUALITY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Each feature maps to a station on the DETECT → EXPLAIN → DECIDE → ACT → LEARN spine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188" y="2196388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157984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2395728"/>
            <a:ext cx="420624" cy="420624"/>
          </a:xfrm>
          <a:prstGeom prst="ellipse">
            <a:avLst/>
          </a:prstGeom>
          <a:solidFill>
            <a:srgbClr val="FCF1EC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395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815"/>
                </a:solidFill>
                <a:latin typeface="Calibri"/>
              </a:rP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46888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DEFECT TREND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9232"/>
            <a:ext cx="3054096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Defect rate by station, tool, batch, shift and material lot. Drift and Pareto views built in, so a rising trend is visible before it becomes a quality event.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0656" y="2196388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11396" y="2157984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67428" y="2395728"/>
            <a:ext cx="420624" cy="420624"/>
          </a:xfrm>
          <a:prstGeom prst="ellipse">
            <a:avLst/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67428" y="2395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1552B"/>
                </a:solidFill>
                <a:latin typeface="Calibri"/>
              </a:rPr>
              <a:t>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7780" y="246888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ROOT CAUSE IDENTIFICATION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428" y="2999232"/>
            <a:ext cx="3054096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Correlates each defect with process changes, tool age, calibration and ambient conditions. Every claim carries an inline citation to the source document.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5124" y="2196388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55864" y="2157984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11896" y="2395728"/>
            <a:ext cx="420624" cy="420624"/>
          </a:xfrm>
          <a:prstGeom prst="ellipse">
            <a:avLst/>
          </a:prstGeom>
          <a:solidFill>
            <a:srgbClr val="FCF1EC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11896" y="2395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815"/>
                </a:solidFill>
                <a:latin typeface="Calibri"/>
              </a:rPr>
              <a:t>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246888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DEFECT CATEGORISATION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999232"/>
            <a:ext cx="3054096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Taxonomy-driven classification across thread, seating, torque and geometry classes — with an explicit UNKNOWN class instead of a forced guess.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188" y="4262932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4224528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822960" y="4462272"/>
            <a:ext cx="420624" cy="420624"/>
          </a:xfrm>
          <a:prstGeom prst="ellipse">
            <a:avLst/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46227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1552B"/>
                </a:solidFill>
                <a:latin typeface="Calibri"/>
              </a:rPr>
              <a:t>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453542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PREDICTIVE QUALITY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65776"/>
            <a:ext cx="3054096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Flags that the next unit is likely to fail from drift in the current signal window, so intervention happens before the defect is created.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0656" y="4262932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311396" y="4224528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67428" y="4462272"/>
            <a:ext cx="420624" cy="420624"/>
          </a:xfrm>
          <a:prstGeom prst="ellipse">
            <a:avLst/>
          </a:prstGeom>
          <a:solidFill>
            <a:srgbClr val="FCF1EC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67428" y="446227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815"/>
                </a:solidFill>
                <a:latin typeface="Calibri"/>
              </a:rPr>
              <a:t>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7780" y="453542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AUTOMATED DASHBOARDS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7428" y="5065776"/>
            <a:ext cx="3054096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Role-aware dashboards and governance exports generated from live data. Reporting stops being a manual assembly job before every review.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85124" y="4262932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055864" y="4224528"/>
            <a:ext cx="3566160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11896" y="4462272"/>
            <a:ext cx="420624" cy="420624"/>
          </a:xfrm>
          <a:prstGeom prst="ellipse">
            <a:avLst/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11896" y="446227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1552B"/>
                </a:solidFill>
                <a:latin typeface="Calibri"/>
              </a:rPr>
              <a:t>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2248" y="453542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RISK-BASED RECOMMENDATIONS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5065776"/>
            <a:ext cx="3054096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37C"/>
                </a:solidFill>
                <a:latin typeface="Calibri"/>
              </a:rPr>
              <a:t>Every disposition priced by expected cost in ₹ and $, with the assumption set attached and uncertainty shown as an interval.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END-TO-END DEFECT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One closed loop from unit arrival to a re-tuned threshold — with a human gate wherever the decision is unsafe or uncertain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188" y="2269540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231136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231136"/>
            <a:ext cx="1705356" cy="41148"/>
          </a:xfrm>
          <a:prstGeom prst="rect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4505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1552B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816352"/>
            <a:ext cx="13030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DEFECT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273551"/>
            <a:ext cx="13030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Unit arrives at station. Torque curve, image and sensor scalars captured per fastener.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04288" y="3145536"/>
            <a:ext cx="109728" cy="91440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75280" y="2269540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446020" y="2231136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46020" y="2231136"/>
            <a:ext cx="1705356" cy="41148"/>
          </a:xfrm>
          <a:prstGeom prst="rect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47188" y="24505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1552B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7188" y="2816352"/>
            <a:ext cx="13030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DATA 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7188" y="3273551"/>
            <a:ext cx="13030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Signals joined to MES work order, batch, tool, operator token, shift and ambient conditions.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83380" y="3145536"/>
            <a:ext cx="109728" cy="91440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54372" y="2269540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25112" y="2231136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5112" y="2231136"/>
            <a:ext cx="1705356" cy="41148"/>
          </a:xfrm>
          <a:prstGeom prst="rect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24505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1815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816352"/>
            <a:ext cx="13030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ANALYSIS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273551"/>
            <a:ext cx="13030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Signature fit, geometric verifiers and expected-cost triage run in parallel — deterministic.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62472" y="3145536"/>
            <a:ext cx="109728" cy="91440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33464" y="2269540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04204" y="2231136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04204" y="2231136"/>
            <a:ext cx="1705356" cy="41148"/>
          </a:xfrm>
          <a:prstGeom prst="rect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5372" y="24505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1815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5372" y="2816352"/>
            <a:ext cx="13030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INSIGHTS 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5372" y="3273551"/>
            <a:ext cx="13030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Adjudicator reconciles disagreement and writes a cited narrative with full provenance.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941564" y="3145536"/>
            <a:ext cx="109728" cy="91440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12556" y="2269540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083296" y="2231136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83296" y="2231136"/>
            <a:ext cx="1705356" cy="41148"/>
          </a:xfrm>
          <a:prstGeom prst="rect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84464" y="24505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1815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2816352"/>
            <a:ext cx="13030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STAKEHOLDER 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3273551"/>
            <a:ext cx="13030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Verdict to the station, incident to MES, alert to Slack, KPIs to role-aware dashboards.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820656" y="3145536"/>
            <a:ext cx="109728" cy="91440"/>
          </a:xfrm>
          <a:prstGeom prst="rightArrow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991648" y="2269540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962388" y="2231136"/>
            <a:ext cx="1705356" cy="192024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962388" y="2231136"/>
            <a:ext cx="1705356" cy="41148"/>
          </a:xfrm>
          <a:prstGeom prst="rect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63556" y="24505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1552B"/>
                </a:solidFill>
                <a:latin typeface="Calibri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3556" y="2816352"/>
            <a:ext cx="13030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120F"/>
                </a:solidFill>
                <a:latin typeface="Calibri"/>
              </a:rPr>
              <a:t>CONTINUOUS IMPROVEMENT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3556" y="3273551"/>
            <a:ext cx="13030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Operator confirms or corrects. Feedback re-tunes thresholds and the memory bank.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815066" y="4151376"/>
            <a:ext cx="0" cy="256032"/>
          </a:xfrm>
          <a:prstGeom prst="line">
            <a:avLst/>
          </a:prstGeom>
          <a:ln w="13970">
            <a:solidFill>
              <a:srgbClr val="E155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419606" y="4407408"/>
            <a:ext cx="9395460" cy="0"/>
          </a:xfrm>
          <a:prstGeom prst="line">
            <a:avLst/>
          </a:prstGeom>
          <a:ln w="13970">
            <a:solidFill>
              <a:srgbClr val="E155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419606" y="4151376"/>
            <a:ext cx="0" cy="256032"/>
          </a:xfrm>
          <a:prstGeom prst="line">
            <a:avLst/>
          </a:prstGeom>
          <a:ln w="13970">
            <a:solidFill>
              <a:srgbClr val="E155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977639" y="4261104"/>
            <a:ext cx="4224528" cy="292608"/>
          </a:xfrm>
          <a:prstGeom prst="roundRect">
            <a:avLst>
              <a:gd name="adj" fmla="val 45000"/>
            </a:avLst>
          </a:prstGeom>
          <a:solidFill>
            <a:srgbClr val="F7F4F2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977639" y="4261104"/>
            <a:ext cx="422452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1552B"/>
                </a:solidFill>
                <a:latin typeface="Calibri"/>
              </a:rPr>
              <a:t>CONTINUOUS IMPROVEMENT LOOP  ·  HUMAN FEEDBACK LEARNING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6188" y="5213908"/>
            <a:ext cx="11055096" cy="932688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566928" y="5175504"/>
            <a:ext cx="11055096" cy="932688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41248" y="532180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1552B"/>
                </a:solidFill>
                <a:latin typeface="Calibri"/>
              </a:rPr>
              <a:t>MEASURED RESPONSE TIMELINE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" y="5779008"/>
            <a:ext cx="10424160" cy="32004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Oval 58"/>
          <p:cNvSpPr/>
          <p:nvPr/>
        </p:nvSpPr>
        <p:spPr>
          <a:xfrm>
            <a:off x="827532" y="5742432"/>
            <a:ext cx="100584" cy="100584"/>
          </a:xfrm>
          <a:prstGeom prst="ellipse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1248" y="55046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815"/>
                </a:solidFill>
                <a:latin typeface="Calibri"/>
              </a:rPr>
              <a:t>t+0 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590702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Ingest &amp; validate</a:t>
            </a:r>
          </a:p>
        </p:txBody>
      </p:sp>
      <p:sp>
        <p:nvSpPr>
          <p:cNvPr id="62" name="Oval 61"/>
          <p:cNvSpPr/>
          <p:nvPr/>
        </p:nvSpPr>
        <p:spPr>
          <a:xfrm>
            <a:off x="2912364" y="5742432"/>
            <a:ext cx="100584" cy="100584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926080" y="55046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t+50 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80" y="590702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VERDICT + evidence + cost rendered</a:t>
            </a:r>
          </a:p>
        </p:txBody>
      </p:sp>
      <p:sp>
        <p:nvSpPr>
          <p:cNvPr id="65" name="Oval 64"/>
          <p:cNvSpPr/>
          <p:nvPr/>
        </p:nvSpPr>
        <p:spPr>
          <a:xfrm>
            <a:off x="7290511" y="5742432"/>
            <a:ext cx="100584" cy="100584"/>
          </a:xfrm>
          <a:prstGeom prst="ellipse">
            <a:avLst/>
          </a:prstGeom>
          <a:solidFill>
            <a:srgbClr val="1C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04227" y="55046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815"/>
                </a:solidFill>
                <a:latin typeface="Calibri"/>
              </a:rPr>
              <a:t>t+~5 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04227" y="590702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Adjudicator narrative streams in</a:t>
            </a:r>
          </a:p>
        </p:txBody>
      </p:sp>
      <p:sp>
        <p:nvSpPr>
          <p:cNvPr id="68" name="Oval 67"/>
          <p:cNvSpPr/>
          <p:nvPr/>
        </p:nvSpPr>
        <p:spPr>
          <a:xfrm>
            <a:off x="10209276" y="5742432"/>
            <a:ext cx="100584" cy="100584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58784" y="55046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async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58784" y="590702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MES incident · Slack · audit log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AI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WHERE THE INTELLIGENCE ACTUALLY 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Multimodal fusion finds the defect class that every single-signal inspector passes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188" y="2232964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194560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8096" y="2395728"/>
            <a:ext cx="347472" cy="347472"/>
          </a:xfrm>
          <a:prstGeom prst="ellipse">
            <a:avLst/>
          </a:prstGeom>
          <a:solidFill>
            <a:srgbClr val="FCF1EC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3957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815"/>
                </a:solidFill>
                <a:latin typeface="Calibr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313432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PATTERN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2523744"/>
            <a:ext cx="4096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837C"/>
                </a:solidFill>
                <a:latin typeface="Calibri"/>
              </a:rPr>
              <a:t>Two-segment piecewise fit of the torque-angle curve, solved by an exact O(n) sweep — no gradient descent, no local minima.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" y="3037636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2999232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8096" y="3200400"/>
            <a:ext cx="347472" cy="347472"/>
          </a:xfrm>
          <a:prstGeom prst="ellipse">
            <a:avLst/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118104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DEFECT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328416"/>
            <a:ext cx="4096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837C"/>
                </a:solidFill>
                <a:latin typeface="Calibri"/>
              </a:rPr>
              <a:t>Deviations combine by weighted noisy-OR, not averaging — averaging lets one strongly anomalous feature be diluted by several nominal 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188" y="3842308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3803904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8096" y="4005072"/>
            <a:ext cx="347472" cy="347472"/>
          </a:xfrm>
          <a:prstGeom prst="ellipse">
            <a:avLst/>
          </a:prstGeom>
          <a:solidFill>
            <a:srgbClr val="FCF1EC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40050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815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922776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ANOMALY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4133088"/>
            <a:ext cx="4096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837C"/>
                </a:solidFill>
                <a:latin typeface="Calibri"/>
              </a:rPr>
              <a:t>Learned patch-level memory bank with 99th-percentile distance scoring and 3-of-5 temporal consensus.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188" y="4646980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4608576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768096" y="4809744"/>
            <a:ext cx="347472" cy="347472"/>
          </a:xfrm>
          <a:prstGeom prst="ellipse">
            <a:avLst/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" y="480974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5296" y="4727448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QUALITY FORECASTING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4937760"/>
            <a:ext cx="4096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837C"/>
                </a:solidFill>
                <a:latin typeface="Calibri"/>
              </a:rPr>
              <a:t>Drift on the current signal window forecasts the next unit's outcome, with the confidence interval shown rather than hidden.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6188" y="5451652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66928" y="5413248"/>
            <a:ext cx="495604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768096" y="5614416"/>
            <a:ext cx="347472" cy="347472"/>
          </a:xfrm>
          <a:prstGeom prst="ellipse">
            <a:avLst/>
          </a:prstGeom>
          <a:solidFill>
            <a:srgbClr val="FCF1EC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" y="56144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5296" y="5532120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RECOMMENDATION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5296" y="5742432"/>
            <a:ext cx="4096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837C"/>
                </a:solidFill>
                <a:latin typeface="Calibri"/>
              </a:rPr>
              <a:t>Expected-cost minimisation across dispositions, escalating to a human when the top two options are within 10% of each other.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44844" y="2232964"/>
            <a:ext cx="5806440" cy="393192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815584" y="2194560"/>
            <a:ext cx="5806440" cy="3931920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71616" y="2377440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1815"/>
                </a:solidFill>
                <a:latin typeface="Calibri"/>
              </a:rPr>
              <a:t>THE DEFECT NO SINGLE SIGNAL CATCHES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58984" y="2359152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8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58984" y="2359152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837C"/>
                </a:solidFill>
                <a:latin typeface="Calibri"/>
              </a:rPr>
              <a:t>SYNTHETIC DATA</a:t>
            </a:r>
          </a:p>
        </p:txBody>
      </p:sp>
      <p:pic>
        <p:nvPicPr>
          <p:cNvPr id="44" name="Picture 43" descr="torque_sign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581" y="2670048"/>
            <a:ext cx="4606445" cy="257860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71616" y="5358384"/>
            <a:ext cx="52943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120F"/>
                </a:solidFill>
                <a:latin typeface="Calibri"/>
              </a:rPr>
              <a:t>Torque endpoint alone: PASS.   Vision alone: PASS.   Reality: clamp load ~30% under target.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71616" y="5614416"/>
            <a:ext cx="529437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37C"/>
                </a:solidFill>
                <a:latin typeface="Calibri"/>
              </a:rPr>
              <a:t>Fusion-only detection rate across 120 seed and severity combinations: above 80%, at a false-positive rate of 2% or lower on clean runs.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WHAT LEADERSHIP GETS IN RETURN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Quality outcomes, cycle-time outcomes and decision quality — each with a metric attached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188" y="2232964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194560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313432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REDUCED PRODUCTION DEFECTS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51176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Escaped defects per 1,000 units fall from 4.2 to 1.4 in pilot simulation — a 67% reduction, driven by in-station catching.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395728"/>
            <a:ext cx="1060704" cy="329184"/>
          </a:xfrm>
          <a:prstGeom prst="roundRect">
            <a:avLst>
              <a:gd name="adj" fmla="val 35000"/>
            </a:avLst>
          </a:prstGeom>
          <a:solidFill>
            <a:srgbClr val="F7F4F2"/>
          </a:solidFill>
          <a:ln w="1397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2395728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815"/>
                </a:solidFill>
                <a:latin typeface="Calibri"/>
              </a:rPr>
              <a:t>– 67%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" y="3037636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2999232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1810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FASTER DEFECT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55848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Mean time to root cause drops from 6.5 hours to 1.4 hours because the evidence chain is assembled, cited and ready.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00400"/>
            <a:ext cx="1060704" cy="329184"/>
          </a:xfrm>
          <a:prstGeom prst="roundRect">
            <a:avLst>
              <a:gd name="adj" fmla="val 35000"/>
            </a:avLst>
          </a:prstGeom>
          <a:solidFill>
            <a:srgbClr val="F7F4F2"/>
          </a:solidFill>
          <a:ln w="1397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3200400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52B"/>
                </a:solidFill>
                <a:latin typeface="Calibri"/>
              </a:rPr>
              <a:t>– 78%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188" y="3842308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3803904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922776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IMPROVED RELEASE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First-pass yield rises from 91.4% to 97.1%; rework and scrap volume falls with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005072"/>
            <a:ext cx="1060704" cy="329184"/>
          </a:xfrm>
          <a:prstGeom prst="roundRect">
            <a:avLst>
              <a:gd name="adj" fmla="val 35000"/>
            </a:avLst>
          </a:prstGeom>
          <a:solidFill>
            <a:srgbClr val="F7F4F2"/>
          </a:solidFill>
          <a:ln w="1397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8" y="4005072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815"/>
                </a:solidFill>
                <a:latin typeface="Calibri"/>
              </a:rPr>
              <a:t>+ 5.7 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188" y="4646980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4608576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727448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BETTER DECISION MAKING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65192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Every disposition priced by expected cost in ₹ and $, with its assumption set attached — a checkable argument, not a claim.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4809744"/>
            <a:ext cx="1060704" cy="329184"/>
          </a:xfrm>
          <a:prstGeom prst="roundRect">
            <a:avLst>
              <a:gd name="adj" fmla="val 35000"/>
            </a:avLst>
          </a:prstGeom>
          <a:solidFill>
            <a:srgbClr val="F7F4F2"/>
          </a:solidFill>
          <a:ln w="1397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6208" y="4809744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52B"/>
                </a:solidFill>
                <a:latin typeface="Calibri"/>
              </a:rPr>
              <a:t>Priced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6188" y="5451652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66928" y="5413248"/>
            <a:ext cx="6967728" cy="713232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INCREASED ENGINEERING PRODUCTIVITY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69864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8B837C"/>
                </a:solidFill>
                <a:latin typeface="Calibri"/>
              </a:rPr>
              <a:t>Inspection time per unit falls from 48 to 20 seconds and governance reporting is generated, not assembled.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5614416"/>
            <a:ext cx="1060704" cy="329184"/>
          </a:xfrm>
          <a:prstGeom prst="roundRect">
            <a:avLst>
              <a:gd name="adj" fmla="val 35000"/>
            </a:avLst>
          </a:prstGeom>
          <a:solidFill>
            <a:srgbClr val="F7F4F2"/>
          </a:solidFill>
          <a:ln w="1397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6208" y="5614416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52B"/>
                </a:solidFill>
                <a:latin typeface="Calibri"/>
              </a:rPr>
              <a:t>– 58%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38236" y="2232964"/>
            <a:ext cx="3813048" cy="3931920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808976" y="2194560"/>
            <a:ext cx="3813048" cy="3931920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65008" y="2377440"/>
            <a:ext cx="3300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52B"/>
                </a:solidFill>
                <a:latin typeface="Calibri"/>
              </a:rPr>
              <a:t>MEASURED QUALITY KPIs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77272" y="2359152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8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77272" y="2359152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837C"/>
                </a:solidFill>
                <a:latin typeface="Calibri"/>
              </a:rPr>
              <a:t>SYNTHETIC DATA</a:t>
            </a:r>
          </a:p>
        </p:txBody>
      </p:sp>
      <p:pic>
        <p:nvPicPr>
          <p:cNvPr id="44" name="Picture 43" descr="donut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61488"/>
            <a:ext cx="950976" cy="95097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62288" y="2926080"/>
            <a:ext cx="22037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120F"/>
                </a:solidFill>
                <a:latin typeface="Calibri"/>
              </a:rPr>
              <a:t>DETECTION ACCURACY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3163824"/>
            <a:ext cx="22037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Held-out golden set</a:t>
            </a:r>
          </a:p>
        </p:txBody>
      </p:sp>
      <p:pic>
        <p:nvPicPr>
          <p:cNvPr id="47" name="Picture 46" descr="donut_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858768"/>
            <a:ext cx="950976" cy="95097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62288" y="4023360"/>
            <a:ext cx="22037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120F"/>
                </a:solidFill>
                <a:latin typeface="Calibri"/>
              </a:rPr>
              <a:t>FALSE-POSITIVE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2288" y="4261104"/>
            <a:ext cx="22037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120 clean production runs</a:t>
            </a:r>
          </a:p>
        </p:txBody>
      </p:sp>
      <p:pic>
        <p:nvPicPr>
          <p:cNvPr id="50" name="Picture 49" descr="donut_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956048"/>
            <a:ext cx="950976" cy="95097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162288" y="5120640"/>
            <a:ext cx="22037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120F"/>
                </a:solidFill>
                <a:latin typeface="Calibri"/>
              </a:rPr>
              <a:t>FUSION-ONLY DETECTION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2288" y="5358384"/>
            <a:ext cx="22037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B837C"/>
                </a:solidFill>
                <a:latin typeface="Calibri"/>
              </a:rPr>
              <a:t>120 seed / severity combos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RISKS AND HOW WE MITIGATE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37C"/>
                </a:solidFill>
                <a:latin typeface="Calibri"/>
              </a:rPr>
              <a:t>Each risk has a named control that is already implemented, not a promise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188" y="2269540"/>
            <a:ext cx="5431536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231136"/>
            <a:ext cx="5431536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32304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DATA QUALITY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9744" y="2432304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9744" y="2432304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1552B"/>
                </a:solidFill>
                <a:latin typeface="Calibri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61488"/>
            <a:ext cx="49194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37C"/>
                </a:solidFill>
                <a:latin typeface="Calibri"/>
              </a:rPr>
              <a:t>Sensor drift, stuck-at values, clock skew and blown exposure silently corrupt any model downstream.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00400"/>
            <a:ext cx="4919472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310128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1815"/>
                </a:solidFill>
                <a:latin typeface="Calibri"/>
              </a:rPr>
              <a:t>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11296"/>
            <a:ext cx="491947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B3530"/>
                </a:solidFill>
                <a:latin typeface="Calibri"/>
              </a:rPr>
              <a:t>Data-quality gate rejects ~3% of records and the rejection log is shown in-product. Dirty data is injected deliberately in test. Stuck-at and range detection run per signal.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9748" y="2269540"/>
            <a:ext cx="5431536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90488" y="2231136"/>
            <a:ext cx="5431536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432304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USER ADOPTION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33304" y="2432304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33304" y="2432304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1552B"/>
                </a:solidFill>
                <a:latin typeface="Calibri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61488"/>
            <a:ext cx="49194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37C"/>
                </a:solidFill>
                <a:latin typeface="Calibri"/>
              </a:rPr>
              <a:t>Operators switch off an inspector that cries wolf, and then there is no inspector at all.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200400"/>
            <a:ext cx="4919472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310128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1815"/>
                </a:solidFill>
                <a:latin typeface="Calibri"/>
              </a:rPr>
              <a:t>MITIGATION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11296"/>
            <a:ext cx="491947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B3530"/>
                </a:solidFill>
                <a:latin typeface="Calibri"/>
              </a:rPr>
              <a:t>False positives held at ≤2% on clean runs. Role-aware explanation depth. Operator feedback visibly changes thresholds, so correcting the system is worth the operator's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188" y="4336084"/>
            <a:ext cx="5431536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4297680"/>
            <a:ext cx="5431536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498848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INTEGRATION COMPLEXITY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9744" y="4498848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9744" y="4498848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C1815"/>
                </a:solidFill>
                <a:latin typeface="Calibri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28032"/>
            <a:ext cx="49194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37C"/>
                </a:solidFill>
                <a:latin typeface="Calibri"/>
              </a:rPr>
              <a:t>MES, tool controllers, ticketing and notification each carry their own protocol, latency and failure mode.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266944"/>
            <a:ext cx="4919472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3766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1815"/>
                </a:solidFill>
                <a:latin typeface="Calibri"/>
              </a:rPr>
              <a:t>MITIGATION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577840"/>
            <a:ext cx="491947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B3530"/>
                </a:solidFill>
                <a:latin typeface="Calibri"/>
              </a:rPr>
              <a:t>Every external system sits behind an interface with a real and a fake implementation. Circuit breakers, retries with jitter, idempotency keys and bulkheads on every outbound call.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9748" y="4336084"/>
            <a:ext cx="5431536" cy="188366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190488" y="4297680"/>
            <a:ext cx="5431536" cy="188366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120F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33304" y="4498848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33304" y="4498848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C1815"/>
                </a:solidFill>
                <a:latin typeface="Calibri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828032"/>
            <a:ext cx="49194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37C"/>
                </a:solidFill>
                <a:latin typeface="Calibri"/>
              </a:rPr>
              <a:t>AI-influenced quality decisions must be explainable, attributable and reversible under audit.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5266944"/>
            <a:ext cx="4919472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53766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1815"/>
                </a:solidFill>
                <a:latin typeface="Calibri"/>
              </a:rPr>
              <a:t>MITIGATION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577840"/>
            <a:ext cx="491947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B3530"/>
                </a:solidFill>
                <a:latin typeface="Calibri"/>
              </a:rPr>
              <a:t>Provenance on every AI output. Full audit log with correlation IDs. Operator IDs tokenised. Autonomy ceiling in config and code: reject autonomously, never pass or halt without a human.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256032"/>
            <a:ext cx="11643055" cy="6345936"/>
          </a:xfrm>
          <a:prstGeom prst="roundRect">
            <a:avLst>
              <a:gd name="adj" fmla="val 3500"/>
            </a:avLst>
          </a:prstGeom>
          <a:solidFill>
            <a:srgbClr val="FBFAF9"/>
          </a:solidFill>
          <a:ln w="12700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443484"/>
            <a:ext cx="82296" cy="82296"/>
          </a:xfrm>
          <a:prstGeom prst="ellipse">
            <a:avLst/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38404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120F"/>
                </a:solidFill>
                <a:latin typeface="Calibri"/>
              </a:rPr>
              <a:t>KEY TAKEAWAYS AND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713232" cy="50292"/>
          </a:xfrm>
          <a:prstGeom prst="roundRect">
            <a:avLst>
              <a:gd name="adj" fmla="val 50000"/>
            </a:avLst>
          </a:prstGeom>
          <a:solidFill>
            <a:srgbClr val="E1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6188" y="1794052"/>
            <a:ext cx="5358384" cy="305409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5358384" cy="3054096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938528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1815"/>
                </a:solidFill>
                <a:latin typeface="Calibri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40864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552B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340864"/>
            <a:ext cx="4315968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15120F"/>
                </a:solidFill>
                <a:latin typeface="Calibri"/>
              </a:rPr>
              <a:t>Generalize for All Componen</a:t>
            </a:r>
            <a:r>
              <a:rPr sz="1150" b="1" i="0" dirty="0">
                <a:solidFill>
                  <a:srgbClr val="15120F"/>
                </a:solidFill>
                <a:latin typeface="Calibri"/>
              </a:rPr>
              <a:t>t</a:t>
            </a:r>
            <a:r>
              <a:rPr lang="en-US" sz="1150" b="1" i="0" dirty="0">
                <a:solidFill>
                  <a:srgbClr val="15120F"/>
                </a:solidFill>
                <a:latin typeface="Calibri"/>
              </a:rPr>
              <a:t> based on input at runtime</a:t>
            </a:r>
            <a:endParaRPr sz="1150" b="1" i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98448" y="2578608"/>
            <a:ext cx="4315968" cy="159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0" i="0" dirty="0">
                <a:solidFill>
                  <a:srgbClr val="8B837C"/>
                </a:solidFill>
                <a:latin typeface="Calibri"/>
              </a:rPr>
              <a:t>Orchestrator agent will swindle defect detection agent that will check component.</a:t>
            </a:r>
            <a:endParaRPr sz="950" b="0" i="0" dirty="0">
              <a:solidFill>
                <a:srgbClr val="8B837C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294436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552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944368"/>
            <a:ext cx="43159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The decision does not depend on a language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182112"/>
            <a:ext cx="4315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37C"/>
                </a:solidFill>
                <a:latin typeface="Calibri"/>
              </a:rPr>
              <a:t>Verdict in ~50 ms, deterministic. The model only explains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547872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552B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547872"/>
            <a:ext cx="43159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Fusion finds what single signals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785616"/>
            <a:ext cx="4315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37C"/>
                </a:solidFill>
                <a:latin typeface="Calibri"/>
              </a:rPr>
              <a:t>&gt;80% fusion-only detection at ≤2% false positives.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151376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552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151376"/>
            <a:ext cx="43159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120F"/>
                </a:solidFill>
                <a:latin typeface="Calibri"/>
              </a:rPr>
              <a:t>Governance is built in, not bolted 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389120"/>
            <a:ext cx="4315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37C"/>
                </a:solidFill>
                <a:latin typeface="Calibri"/>
              </a:rPr>
              <a:t>Provenance, audit, RBAC and a declared autonomy ceiling, in code.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2900" y="1794052"/>
            <a:ext cx="5358384" cy="3054096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63640" y="1755648"/>
            <a:ext cx="5358384" cy="3054096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7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1938528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552B"/>
                </a:solidFill>
                <a:latin typeface="Calibri"/>
              </a:rPr>
              <a:t>IMPLEMENTATION RECOMMENDATION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34086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23408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1552B"/>
                </a:solidFill>
                <a:latin typeface="Calibri"/>
              </a:rPr>
              <a:t>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36829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0–30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670048"/>
            <a:ext cx="48097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B3530"/>
                </a:solidFill>
                <a:latin typeface="Calibri"/>
              </a:rPr>
              <a:t>One station, one defect family, shadow mode. Measure against the live manual baseline — no autonomy.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18211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18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18211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1815"/>
                </a:solidFill>
                <a:latin typeface="Calibri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320954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1815"/>
                </a:solidFill>
                <a:latin typeface="Calibri"/>
              </a:rPr>
              <a:t>30–90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511296"/>
            <a:ext cx="48097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B3530"/>
                </a:solidFill>
                <a:latin typeface="Calibri"/>
              </a:rPr>
              <a:t>Enable in-station reject with human gates. Wire MES incidents and Slack. Publish the weekly governance report.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40233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40233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1552B"/>
                </a:solidFill>
                <a:latin typeface="Calibri"/>
              </a:rP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2088" y="40507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552B"/>
                </a:solidFill>
                <a:latin typeface="Calibri"/>
              </a:rPr>
              <a:t>90–180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352544"/>
            <a:ext cx="48097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B3530"/>
                </a:solidFill>
                <a:latin typeface="Calibri"/>
              </a:rPr>
              <a:t>Add stations via use-case packs. Move to the container profile: Postgres, vector store, object store, dashboards.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6188" y="5031028"/>
            <a:ext cx="11055096" cy="1060704"/>
          </a:xfrm>
          <a:prstGeom prst="roundRect">
            <a:avLst>
              <a:gd name="adj" fmla="val 8500"/>
            </a:avLst>
          </a:prstGeom>
          <a:solidFill>
            <a:srgbClr val="E3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66928" y="4992624"/>
            <a:ext cx="11055096" cy="1060704"/>
          </a:xfrm>
          <a:prstGeom prst="roundRect">
            <a:avLst>
              <a:gd name="adj" fmla="val 8500"/>
            </a:avLst>
          </a:prstGeom>
          <a:solidFill>
            <a:srgbClr val="F7F4F2"/>
          </a:solidFill>
          <a:ln w="12700">
            <a:solidFill>
              <a:srgbClr val="E1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" y="5157216"/>
            <a:ext cx="6766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815"/>
                </a:solidFill>
                <a:latin typeface="Calibri"/>
              </a:rPr>
              <a:t>CALL TO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" y="5394960"/>
            <a:ext cx="749807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120F"/>
                </a:solidFill>
                <a:latin typeface="Calibri"/>
              </a:rPr>
              <a:t>Approve a 30-day shadow-mode pilot on one wheel-assembly station, with the four pilot KPIs as the go/no-go gate.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175504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837C"/>
                </a:solidFill>
                <a:latin typeface="Calibri"/>
              </a:rPr>
              <a:t>→  Named plant sponsor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449824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837C"/>
                </a:solidFill>
                <a:latin typeface="Calibri"/>
              </a:rPr>
              <a:t>→  MES read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724144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837C"/>
                </a:solidFill>
                <a:latin typeface="Calibri"/>
              </a:rPr>
              <a:t>→  One QA engineer, 2 days / week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6272784"/>
            <a:ext cx="11055096" cy="10972"/>
          </a:xfrm>
          <a:prstGeom prst="rect">
            <a:avLst/>
          </a:prstGeom>
          <a:solidFill>
            <a:srgbClr val="E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639165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8C85"/>
                </a:solidFill>
                <a:latin typeface="Calibri"/>
              </a:rPr>
              <a:t>Defect Sense  ·  Intelligent Manufacturing Quality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391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48C85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41c0bc7-c6be-49cd-a7d8-05e4908a7b56}" enabled="1" method="Privileged" siteId="{4cbfea0a-b872-47f0-b51c-1c64953c3f0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5516</Words>
  <Application>Microsoft Office PowerPoint</Application>
  <PresentationFormat>Widescreen</PresentationFormat>
  <Paragraphs>683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Defect Sense — Intelligent AI-Powered Manufacturing Quality Control &amp; Defect Detection</dc:title>
  <dc:subject>Executive briefing for leadership, QA, engineering management and product stakeholders</dc:subject>
  <dc:creator>DNB AI Pioneers · Team 1</dc:creator>
  <cp:keywords/>
  <dc:description>generated using python-pptx</dc:description>
  <cp:lastModifiedBy>Pushpendra Kumar Pandey</cp:lastModifiedBy>
  <cp:revision>7</cp:revision>
  <dcterms:created xsi:type="dcterms:W3CDTF">2013-01-27T09:14:16Z</dcterms:created>
  <dcterms:modified xsi:type="dcterms:W3CDTF">2026-08-08T10:13:02Z</dcterms:modified>
  <cp:category/>
</cp:coreProperties>
</file>